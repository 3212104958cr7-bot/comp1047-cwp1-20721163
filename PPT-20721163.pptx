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2" autoAdjust="0"/>
    <p:restoredTop sz="55446" autoAdjust="0"/>
  </p:normalViewPr>
  <p:slideViewPr>
    <p:cSldViewPr snapToGrid="0">
      <p:cViewPr>
        <p:scale>
          <a:sx n="66" d="100"/>
          <a:sy n="66" d="100"/>
        </p:scale>
        <p:origin x="636" y="0"/>
      </p:cViewPr>
      <p:guideLst/>
    </p:cSldViewPr>
  </p:slideViewPr>
  <p:outlineViewPr>
    <p:cViewPr>
      <p:scale>
        <a:sx n="33" d="100"/>
        <a:sy n="33" d="100"/>
      </p:scale>
      <p:origin x="0" y="-308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61DA1-01BE-47FC-AB82-881737FB610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C65CE-5DFB-4981-AA89-B5484C637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31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705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18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7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85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479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069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08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36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014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30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71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72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364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64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201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C65CE-5DFB-4981-AA89-B5484C637BC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69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56878-E1DC-3249-6ECC-8E7D45F45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832BAD-C36E-61FF-CAA1-6A9ED50A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C78422-6A61-9B37-3A84-DF6F3456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D415D-D744-85C2-A515-A1C50E5D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3212C-7D55-3444-F033-6CE7A498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1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9803-EC09-E835-CEFA-98289C81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BDB56-0D97-2D40-2AE4-CEDEB71E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B1D4E-DA84-B221-BF3C-F4686DF2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01E37-82A5-5DEA-D02A-8A4D416E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C3B83-2FE2-A044-9C72-B6BD00C7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3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2D791-9D99-A647-5560-CCC20C4B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7B44B7-57D2-AAFB-A1F4-A0159F0BE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40828A-0F02-8A03-E760-C66681C2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B90E8-D2BD-D148-2950-C209A47B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ADA1F-1A78-E2D9-9746-41558BB1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89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49F95-A8BD-70EB-3A5C-F884381D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3EBB86-7DCD-4CEE-E722-ABF7A3A4E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9A8384-2E43-D1EC-56F1-1C2BE69E3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B594D2-BE1E-7575-402B-5EC8D67F3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808E3F-F681-2CA7-865B-8F6DC77C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1699AB-0262-76EC-CEC9-7EDC4ECD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39533-7CFD-2597-05E2-F2C994CD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6BAC64-4487-42A3-1D0D-C36CD04E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128B8C-4DC4-13B7-1226-DD5A6DD10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3A4284-26EE-D68A-3261-224E63D29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667446-0149-39FB-9ED7-6515656E3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E138FD-FED1-83F9-85A3-A0C95B54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21001A-01EF-3CE7-61E4-80117575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061E57-3F95-FC88-FB02-76416D86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63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DBE4B-3206-6FF0-1236-9F404AB3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8EE9E9-92C1-DB18-FADD-B3CC7914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4BD9F2-6402-3F7F-6B55-616042DD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8330C7-F88A-36EB-D2E7-64EAC2DB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28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753D6D-E2FE-E20C-811A-0A2C4F99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3DE87D-A5BB-A095-A096-8326A79B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1E1A71-4F6A-47EA-4443-B2BADF7F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90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FBAA7-13E7-7AEC-13F8-AA2F0EC4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5A4A4-4B23-D061-90BB-038D14EC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E07E3A-0BC5-9634-6B37-527067566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FB03DD-3DA2-CA8A-4093-9E8F5852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516AA6-96DC-BB17-422D-9935C41F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563647-B23F-9EA3-73DB-80FCF608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61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2EC3A-2958-0B57-E642-C5480AA6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D5B062-4854-F6C1-D7A2-EFD893DA8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0FEDDF-CCA6-384E-AC14-DE6A0C1FD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78855C-59F2-5B37-6925-4B625FC5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639E17-91ED-F0C0-5339-B4232658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12B528-5946-65BA-EC5A-92DF3B08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3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EAFEC-3636-C133-4968-E6035A69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57C989-8D72-D1B8-7DA6-794CE4D05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EB2AA-5388-28A3-B6AD-6671D3B8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E093D-5457-533B-CA13-BE447E96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2B475-F60D-7C2D-08FC-33D5FADC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3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A18ADD-FC25-AD52-9FC9-7D10D2C785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37F9EB-272E-C4C2-FC14-1EB079CC8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CD514-F8A6-64EB-6CF9-A9BFFC23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44DF5-7C7D-CDD9-18C3-2C86D05B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9751B-FA88-4FC6-B8FA-0D0F7746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23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E133B3-8A97-2F83-15A4-0F122D23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E84E90-E9F2-86E0-F3C5-7ECDF5168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E9D6AD-5376-6433-3A04-8469C489D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71067-B5F4-4F1A-8E8C-83618B95817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43392F-8CA9-3C28-9409-28F71DE74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BADDE-DCDC-3325-368F-25F718B91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7F93B-A0B2-48C9-8CD4-D289BC9D3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80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ThirdOne/rar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iscv-software-src/riscv-isa-si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ISC-V#ISA_base_and_extension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iscv-software-src/riscv-isa-sim" TargetMode="External"/><Relationship Id="rId5" Type="http://schemas.openxmlformats.org/officeDocument/2006/relationships/hyperlink" Target="https://github.com/TheThirdOne/rars" TargetMode="External"/><Relationship Id="rId4" Type="http://schemas.openxmlformats.org/officeDocument/2006/relationships/hyperlink" Target="https://www.researchgate.net/figure/Three-different-32-bit-instruction-formats-of-MIPS-architecture-37-Rs-Source_fig2_3599712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0A545-E7C3-2BFA-EFE1-685858407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73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 From MIPS to a Modern Open ISA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F2ED80-0E06-D5AA-98F1-B61705B6C6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Tianbo Yang</a:t>
            </a:r>
          </a:p>
          <a:p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20721163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79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4"/>
    </mc:Choice>
    <mc:Fallback xmlns="">
      <p:transition spd="slow" advTm="164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5F8F6-7EC6-3628-254F-166F6FD4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6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RISC-V</a:t>
            </a:r>
            <a:endParaRPr lang="zh-CN" altLang="en-US" sz="60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05FC04-EB49-9A24-B34B-113F85045458}"/>
              </a:ext>
            </a:extLst>
          </p:cNvPr>
          <p:cNvSpPr txBox="1"/>
          <p:nvPr/>
        </p:nvSpPr>
        <p:spPr>
          <a:xfrm>
            <a:off x="1178226" y="2652317"/>
            <a:ext cx="4375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is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is an Instruction Set Architecture (ISA) — a set of instructions that defines how a processor operates.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93295E-FA6D-B0D9-2B09-8984C0892D7E}"/>
              </a:ext>
            </a:extLst>
          </p:cNvPr>
          <p:cNvSpPr txBox="1"/>
          <p:nvPr/>
        </p:nvSpPr>
        <p:spPr>
          <a:xfrm>
            <a:off x="6833570" y="2582613"/>
            <a:ext cx="456851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Licensing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open-source and royalty-free, meaning anyone can use it to design processors without paying any licensing fees.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F4B346-5442-F018-BCBB-AAEA67E3B876}"/>
              </a:ext>
            </a:extLst>
          </p:cNvPr>
          <p:cNvSpPr txBox="1"/>
          <p:nvPr/>
        </p:nvSpPr>
        <p:spPr>
          <a:xfrm>
            <a:off x="1226507" y="4621403"/>
            <a:ext cx="43276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Philosophy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based on the principles of Reduced Instruction Set Computing (RISC), which emphasizes simple and efficient instructions.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80D1B7-9E72-899A-25AC-510B9089AE5D}"/>
              </a:ext>
            </a:extLst>
          </p:cNvPr>
          <p:cNvSpPr txBox="1"/>
          <p:nvPr/>
        </p:nvSpPr>
        <p:spPr>
          <a:xfrm>
            <a:off x="6833570" y="4628700"/>
            <a:ext cx="4411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</a:t>
            </a: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was developed by the University of California, Berkeley in the 2010s.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1EDC65-90A7-12F9-71F4-224018A567F2}"/>
              </a:ext>
            </a:extLst>
          </p:cNvPr>
          <p:cNvSpPr txBox="1"/>
          <p:nvPr/>
        </p:nvSpPr>
        <p:spPr>
          <a:xfrm>
            <a:off x="2245474" y="1636514"/>
            <a:ext cx="7701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is an open-source, royalty-free Instruction Set Architecture (ISA) based on the principles of Reduced Instruction Set Computing (RISC), developed by the University of California, Berkeley in the 2010s.</a:t>
            </a:r>
            <a:endParaRPr lang="zh-CN" altLang="en-US" sz="12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107BA-3471-3C05-350E-0CFA235B4A37}"/>
              </a:ext>
            </a:extLst>
          </p:cNvPr>
          <p:cNvSpPr txBox="1"/>
          <p:nvPr/>
        </p:nvSpPr>
        <p:spPr>
          <a:xfrm>
            <a:off x="150312" y="2282160"/>
            <a:ext cx="1960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interface specification between software and hardware.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FF3FA5A-60EA-0001-EA7B-A64105BE5842}"/>
              </a:ext>
            </a:extLst>
          </p:cNvPr>
          <p:cNvCxnSpPr/>
          <p:nvPr/>
        </p:nvCxnSpPr>
        <p:spPr>
          <a:xfrm>
            <a:off x="739036" y="2705622"/>
            <a:ext cx="551145" cy="80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9C755-45DE-8A56-5FD8-F35549F5E4D1}"/>
              </a:ext>
            </a:extLst>
          </p:cNvPr>
          <p:cNvSpPr txBox="1"/>
          <p:nvPr/>
        </p:nvSpPr>
        <p:spPr>
          <a:xfrm>
            <a:off x="5054252" y="6314174"/>
            <a:ext cx="61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A6D0594-65D4-0FB8-5F44-37B07809EB2A}"/>
              </a:ext>
            </a:extLst>
          </p:cNvPr>
          <p:cNvCxnSpPr/>
          <p:nvPr/>
        </p:nvCxnSpPr>
        <p:spPr>
          <a:xfrm>
            <a:off x="4427951" y="5599134"/>
            <a:ext cx="764087" cy="715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53C1FA5-DB36-EE46-4C07-9BE9820D74F4}"/>
              </a:ext>
            </a:extLst>
          </p:cNvPr>
          <p:cNvSpPr txBox="1"/>
          <p:nvPr/>
        </p:nvSpPr>
        <p:spPr>
          <a:xfrm>
            <a:off x="4809994" y="5837120"/>
            <a:ext cx="1121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</a:t>
            </a:r>
            <a:endParaRPr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5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2494F93-4EC0-55A5-05E2-1976A2A2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Evidence of RISC-V's Rising Popularity</a:t>
            </a:r>
            <a:endParaRPr lang="zh-CN" altLang="en-US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4F4D274-DEF5-2759-EA2C-F3576666B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563337"/>
            <a:ext cx="10515599" cy="51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99251-8394-BAB3-32F7-D21C6794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sz="4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Reasons Behind the Popularity of RISC-V</a:t>
            </a:r>
            <a:br>
              <a:rPr lang="en-US" altLang="zh-CN" sz="4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(Industry)</a:t>
            </a:r>
            <a:endParaRPr lang="zh-CN" altLang="en-US" sz="48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68BFA4-4177-59E2-4E6E-3FB08E81F1CB}"/>
              </a:ext>
            </a:extLst>
          </p:cNvPr>
          <p:cNvSpPr txBox="1"/>
          <p:nvPr/>
        </p:nvSpPr>
        <p:spPr>
          <a:xfrm>
            <a:off x="1151725" y="1774603"/>
            <a:ext cx="3294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&amp; Royalty-Free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E4C41D-7B58-8619-EB17-0671C1CA3811}"/>
              </a:ext>
            </a:extLst>
          </p:cNvPr>
          <p:cNvSpPr txBox="1"/>
          <p:nvPr/>
        </p:nvSpPr>
        <p:spPr>
          <a:xfrm>
            <a:off x="7824749" y="1178648"/>
            <a:ext cx="189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licensing fees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F4BF96-354B-0ACD-1428-CF20C3A8030B}"/>
              </a:ext>
            </a:extLst>
          </p:cNvPr>
          <p:cNvSpPr txBox="1"/>
          <p:nvPr/>
        </p:nvSpPr>
        <p:spPr>
          <a:xfrm>
            <a:off x="6463620" y="2009645"/>
            <a:ext cx="4613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company can implement, manufacture, and sell RISC-V based chips without paying royalties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D0FCA4-1E47-D75E-EB75-4FD71CE50ADC}"/>
              </a:ext>
            </a:extLst>
          </p:cNvPr>
          <p:cNvSpPr txBox="1"/>
          <p:nvPr/>
        </p:nvSpPr>
        <p:spPr>
          <a:xfrm>
            <a:off x="7116263" y="3251932"/>
            <a:ext cx="330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lowering the barrier to entry especially for startups chip designers.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CBB5A7-5E94-E265-1170-CD903D375A24}"/>
              </a:ext>
            </a:extLst>
          </p:cNvPr>
          <p:cNvSpPr txBox="1"/>
          <p:nvPr/>
        </p:nvSpPr>
        <p:spPr>
          <a:xfrm>
            <a:off x="6559596" y="4804528"/>
            <a:ext cx="4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than MIPS and ARM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37EFB85-6A2D-7739-CABE-81BC35007F0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8770560" y="1547980"/>
            <a:ext cx="0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002287A-5E5E-D2F8-7577-10A5A18AFE4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8770559" y="2932975"/>
            <a:ext cx="1" cy="318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0636688-2475-F2D3-46FE-D8987A8E7C5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770559" y="4175262"/>
            <a:ext cx="0" cy="629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图片包含 室内, 食物, 桌子, 显示&#10;&#10;AI 生成的内容可能不正确。">
            <a:extLst>
              <a:ext uri="{FF2B5EF4-FFF2-40B4-BE49-F238E27FC236}">
                <a16:creationId xmlns:a16="http://schemas.microsoft.com/office/drawing/2014/main" id="{FCAA0B4C-5A74-3744-9154-969B4F126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19" y="2718356"/>
            <a:ext cx="4270803" cy="308477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37437348-F01E-D534-260B-AB21E9EA34B6}"/>
              </a:ext>
            </a:extLst>
          </p:cNvPr>
          <p:cNvSpPr txBox="1"/>
          <p:nvPr/>
        </p:nvSpPr>
        <p:spPr>
          <a:xfrm>
            <a:off x="6851017" y="5803126"/>
            <a:ext cx="383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and ARM have licensing fees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05B3CF3-8AA9-9663-69A2-C73ADB177FBD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>
            <a:off x="8770559" y="5173860"/>
            <a:ext cx="0" cy="629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17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0E0AB-545D-EA1E-D526-ED8BC618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Reasons Behind the Popularity of RISC-V</a:t>
            </a:r>
            <a:b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(Industry)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CCF33F-E740-70B6-ED96-180196CA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3617"/>
            <a:ext cx="4536518" cy="44990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&amp; Customizable:</a:t>
            </a:r>
            <a:r>
              <a:rPr lang="zh-CN" altLang="en-US" dirty="0"/>
              <a:t>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 &amp; Scalable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7CB2B1-F234-8454-6D96-BE4BF779814E}"/>
              </a:ext>
            </a:extLst>
          </p:cNvPr>
          <p:cNvSpPr txBox="1"/>
          <p:nvPr/>
        </p:nvSpPr>
        <p:spPr>
          <a:xfrm>
            <a:off x="8117914" y="1988259"/>
            <a:ext cx="2417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+ extension design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06212-6DBB-9D7A-A507-9281CFB87C82}"/>
              </a:ext>
            </a:extLst>
          </p:cNvPr>
          <p:cNvSpPr txBox="1"/>
          <p:nvPr/>
        </p:nvSpPr>
        <p:spPr>
          <a:xfrm>
            <a:off x="7389522" y="3359385"/>
            <a:ext cx="387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tailor the architecture precisely to their product needs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CBEBAE-8FEB-A56C-8854-EA0F21223D08}"/>
              </a:ext>
            </a:extLst>
          </p:cNvPr>
          <p:cNvSpPr txBox="1"/>
          <p:nvPr/>
        </p:nvSpPr>
        <p:spPr>
          <a:xfrm>
            <a:off x="6824606" y="5007510"/>
            <a:ext cx="500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carrying unnecessary hardware overhead.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222142B-9A89-435D-E93A-548B0384B1A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326514" y="2357591"/>
            <a:ext cx="1" cy="1001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9B066B0-B769-6087-F7CD-1E4F7E12D7D6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326515" y="4005716"/>
            <a:ext cx="0" cy="1001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4DAD6123-8DD7-1BCA-6A1E-810542136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644" y="2406452"/>
            <a:ext cx="3617052" cy="36170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EE6D8D-CF57-A1C6-FD98-2A69E6338DCE}"/>
              </a:ext>
            </a:extLst>
          </p:cNvPr>
          <p:cNvSpPr txBox="1"/>
          <p:nvPr/>
        </p:nvSpPr>
        <p:spPr>
          <a:xfrm>
            <a:off x="5127955" y="2574950"/>
            <a:ext cx="2087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Selective ALU and Control unit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781B7CE-1AD8-646B-A456-7778D0507C17}"/>
              </a:ext>
            </a:extLst>
          </p:cNvPr>
          <p:cNvCxnSpPr>
            <a:endCxn id="7" idx="0"/>
          </p:cNvCxnSpPr>
          <p:nvPr/>
        </p:nvCxnSpPr>
        <p:spPr>
          <a:xfrm>
            <a:off x="3489350" y="1988259"/>
            <a:ext cx="2682280" cy="586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58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84F64-1ECA-F1C9-5125-398ABB59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Reasons Behind the Popularity of RISC-V</a:t>
            </a:r>
            <a:b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(Industry)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A3E10A-A2D0-0409-296A-2A0BC1029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088" y="2117234"/>
            <a:ext cx="6536467" cy="40310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729598-8E78-F442-DFDB-8ADB62F5B96A}"/>
              </a:ext>
            </a:extLst>
          </p:cNvPr>
          <p:cNvSpPr txBox="1"/>
          <p:nvPr/>
        </p:nvSpPr>
        <p:spPr>
          <a:xfrm>
            <a:off x="411830" y="2117234"/>
            <a:ext cx="552130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Integer Instruction 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RV32I / RV64I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Embedded: RV32E / RV64E</a:t>
            </a:r>
          </a:p>
          <a:p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Standard Extensions: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"M" Extension for Integer Multiplication and Division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"A" Extension for Atomic Instructions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"F" Extension for Single-Precision Floating-Point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"D" Extension for Double-Precision Floating-Point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"Q" Extension for Quad-Precision Floating-Point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"C" Extension for Compressed Instructions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“B” </a:t>
            </a: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Bit Manipulation Extensions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"V" Standard Extension for Vector Operations </a:t>
            </a: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030FD7-0506-AB1D-B96E-21B2325F6CAB}"/>
              </a:ext>
            </a:extLst>
          </p:cNvPr>
          <p:cNvSpPr txBox="1"/>
          <p:nvPr/>
        </p:nvSpPr>
        <p:spPr>
          <a:xfrm>
            <a:off x="10428348" y="6076223"/>
            <a:ext cx="21429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rgbClr val="7030A0"/>
                </a:solidFill>
              </a:rPr>
              <a:t>(RISC-V International, 2025)</a:t>
            </a:r>
            <a:endParaRPr lang="zh-CN" altLang="en-US" sz="800" dirty="0">
              <a:solidFill>
                <a:srgbClr val="7030A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578F25-3A16-BC9F-3B9D-87332090A319}"/>
              </a:ext>
            </a:extLst>
          </p:cNvPr>
          <p:cNvSpPr txBox="1"/>
          <p:nvPr/>
        </p:nvSpPr>
        <p:spPr>
          <a:xfrm>
            <a:off x="5737687" y="1675300"/>
            <a:ext cx="7615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ratified extension that is not yet merged into the published specifications:</a:t>
            </a:r>
            <a:endParaRPr lang="zh-CN" altLang="en-US" sz="1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2591B4-4779-5073-F068-80327DAD2D5A}"/>
              </a:ext>
            </a:extLst>
          </p:cNvPr>
          <p:cNvSpPr txBox="1"/>
          <p:nvPr/>
        </p:nvSpPr>
        <p:spPr>
          <a:xfrm>
            <a:off x="496614" y="6021655"/>
            <a:ext cx="4461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Scenario: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ADAS (Advanced Driver Assistance System) chip</a:t>
            </a:r>
          </a:p>
          <a:p>
            <a:r>
              <a:rPr lang="pt-BR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RV64I + M + A + F + D + V + C + H</a:t>
            </a:r>
            <a:endParaRPr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00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F1B33-9D30-8AB4-9FFB-75D44E3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Reasons Behind the Popularity of RISC-V</a:t>
            </a:r>
            <a:b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(academia)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052FC-9377-D683-610E-066C01583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25"/>
            <a:ext cx="10515600" cy="2578851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&amp; Customizable: Open Access</a:t>
            </a:r>
            <a:b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1800" b="1" dirty="0"/>
              <a:t>Open Access for Research</a:t>
            </a:r>
            <a:r>
              <a:rPr lang="en-US" altLang="zh-CN" sz="1800" dirty="0"/>
              <a:t> Researchers can freely modify and extend the ISA, implement custom microarchitectures, and publish results — without legal or licensing barriers that proprietary ISAs like ARM would impose.</a:t>
            </a:r>
            <a:endParaRPr lang="en-US" altLang="zh-C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</a:t>
            </a:r>
          </a:p>
          <a:p>
            <a:pPr marL="0" indent="0">
              <a:buNone/>
            </a:pPr>
            <a:r>
              <a:rPr lang="en-US" altLang="zh-CN" sz="1800" b="1" dirty="0"/>
              <a:t>Born from Academia</a:t>
            </a:r>
            <a:r>
              <a:rPr lang="en-US" altLang="zh-CN" sz="1800" dirty="0"/>
              <a:t> RISC-V originated at UC Berkeley in 2010,     designed explicitly for teaching and research. Its clean, minimal design makes it an ideal subject for studying ISA design principles.</a:t>
            </a:r>
            <a:endParaRPr lang="en-US" altLang="zh-C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320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8015" y="328731"/>
            <a:ext cx="5355550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5-Week Teaching Plan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261205" y="1050602"/>
            <a:ext cx="22860" cy="5308163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5538019" y="1245745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6066062" y="1050602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6134939" y="1085070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3059138" y="1113705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1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-62800" y="1442108"/>
            <a:ext cx="54173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50"/>
              </a:lnSpc>
            </a:pP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RISC-V &amp; Computer Performance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56348" y="2277541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066062" y="2082397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134939" y="2116866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190726" y="2145501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2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38019" y="3192179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66062" y="2997036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34939" y="3031504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059138" y="3060139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3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-62800" y="3388542"/>
            <a:ext cx="54173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50"/>
              </a:lnSpc>
            </a:pP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Assembly Programming: Control Flow &amp; Procedures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456348" y="4106936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66062" y="3911793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34939" y="3946261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90726" y="3974896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4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38019" y="5021693"/>
            <a:ext cx="550902" cy="22860"/>
          </a:xfrm>
          <a:prstGeom prst="roundRect">
            <a:avLst>
              <a:gd name="adj" fmla="val 337394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66062" y="4826550"/>
            <a:ext cx="413147" cy="413147"/>
          </a:xfrm>
          <a:prstGeom prst="roundRect">
            <a:avLst>
              <a:gd name="adj" fmla="val 1866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34939" y="4861019"/>
            <a:ext cx="27539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2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59138" y="4889653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5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-62800" y="5223339"/>
            <a:ext cx="54173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50"/>
              </a:lnSpc>
            </a:pP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Single-Cycle RISC-V Processor Design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927F8D59-AAEA-FF2F-DBB9-A95DBBDB2D16}"/>
              </a:ext>
            </a:extLst>
          </p:cNvPr>
          <p:cNvSpPr/>
          <p:nvPr/>
        </p:nvSpPr>
        <p:spPr>
          <a:xfrm>
            <a:off x="7190726" y="2447558"/>
            <a:ext cx="541746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Assembly Programming: Basics &amp; </a:t>
            </a:r>
            <a:r>
              <a:rPr lang="en-US" altLang="zh-CN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Operands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Operations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7190725" y="4276953"/>
            <a:ext cx="541746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Instruction Set Architecture &amp; Encoding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2B1FD2E-5236-5391-3C69-87AE1F4B4131}"/>
              </a:ext>
            </a:extLst>
          </p:cNvPr>
          <p:cNvSpPr/>
          <p:nvPr/>
        </p:nvSpPr>
        <p:spPr>
          <a:xfrm>
            <a:off x="726073" y="6480729"/>
            <a:ext cx="1267098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plan mirrors the structure students know from MIPS, easing the transition while progressively introducing RISC-V's advantages.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41009C-9CE6-0341-6EBE-A07D71D9B923}"/>
              </a:ext>
            </a:extLst>
          </p:cNvPr>
          <p:cNvSpPr txBox="1"/>
          <p:nvPr/>
        </p:nvSpPr>
        <p:spPr>
          <a:xfrm>
            <a:off x="8910076" y="2946851"/>
            <a:ext cx="33341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operands,  Memory operands,</a:t>
            </a:r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Immediate operand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EB99486-8E01-9450-5FA6-FEC2198DDB60}"/>
              </a:ext>
            </a:extLst>
          </p:cNvPr>
          <p:cNvCxnSpPr>
            <a:endCxn id="3" idx="0"/>
          </p:cNvCxnSpPr>
          <p:nvPr/>
        </p:nvCxnSpPr>
        <p:spPr>
          <a:xfrm>
            <a:off x="10459233" y="2713305"/>
            <a:ext cx="117901" cy="233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16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2E36529E-1198-FE90-2F60-EAEDC3BC04A2}"/>
              </a:ext>
            </a:extLst>
          </p:cNvPr>
          <p:cNvSpPr/>
          <p:nvPr/>
        </p:nvSpPr>
        <p:spPr>
          <a:xfrm>
            <a:off x="0" y="0"/>
            <a:ext cx="2626162" cy="419933"/>
          </a:xfrm>
          <a:prstGeom prst="roundRect">
            <a:avLst>
              <a:gd name="adj" fmla="val 17950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CE0F31F-CC92-1562-0A09-81B965988341}"/>
              </a:ext>
            </a:extLst>
          </p:cNvPr>
          <p:cNvSpPr/>
          <p:nvPr/>
        </p:nvSpPr>
        <p:spPr>
          <a:xfrm>
            <a:off x="134541" y="67271"/>
            <a:ext cx="2357080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1 — ISA COMPARISON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F9C8595-6B3E-5849-E7B1-236C0EBC80EF}"/>
              </a:ext>
            </a:extLst>
          </p:cNvPr>
          <p:cNvSpPr/>
          <p:nvPr/>
        </p:nvSpPr>
        <p:spPr>
          <a:xfrm>
            <a:off x="0" y="508635"/>
            <a:ext cx="9136856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vs. RISC-V: Foundational Differences</a:t>
            </a:r>
            <a:endParaRPr lang="en-US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2B0B47C-7A5B-8D6D-94CA-320898558A56}"/>
              </a:ext>
            </a:extLst>
          </p:cNvPr>
          <p:cNvSpPr/>
          <p:nvPr/>
        </p:nvSpPr>
        <p:spPr>
          <a:xfrm>
            <a:off x="0" y="1402199"/>
            <a:ext cx="12184380" cy="3638907"/>
          </a:xfrm>
          <a:prstGeom prst="roundRect">
            <a:avLst>
              <a:gd name="adj" fmla="val 25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64E567A-B7E9-51F0-5A88-30DBAE1B61C6}"/>
              </a:ext>
            </a:extLst>
          </p:cNvPr>
          <p:cNvSpPr/>
          <p:nvPr/>
        </p:nvSpPr>
        <p:spPr>
          <a:xfrm>
            <a:off x="7620" y="1409819"/>
            <a:ext cx="10917054" cy="6382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7D17E6E-E4D6-61ED-4583-F4DF3AB8F303}"/>
              </a:ext>
            </a:extLst>
          </p:cNvPr>
          <p:cNvSpPr/>
          <p:nvPr/>
        </p:nvSpPr>
        <p:spPr>
          <a:xfrm>
            <a:off x="232172" y="1550551"/>
            <a:ext cx="241744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9028F90-F3F4-D20F-32EA-25C416E4BD0E}"/>
              </a:ext>
            </a:extLst>
          </p:cNvPr>
          <p:cNvSpPr/>
          <p:nvPr/>
        </p:nvSpPr>
        <p:spPr>
          <a:xfrm>
            <a:off x="3105864" y="1550551"/>
            <a:ext cx="463117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C69C307-9F40-9578-913C-74974F3A7376}"/>
              </a:ext>
            </a:extLst>
          </p:cNvPr>
          <p:cNvSpPr/>
          <p:nvPr/>
        </p:nvSpPr>
        <p:spPr>
          <a:xfrm>
            <a:off x="8193286" y="1550551"/>
            <a:ext cx="463498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96509F7-CCF2-A118-C161-C74D24B05589}"/>
              </a:ext>
            </a:extLst>
          </p:cNvPr>
          <p:cNvSpPr/>
          <p:nvPr/>
        </p:nvSpPr>
        <p:spPr>
          <a:xfrm>
            <a:off x="7620" y="2048113"/>
            <a:ext cx="12176760" cy="995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1B028D-66FF-7669-A2D6-874BE67B3840}"/>
              </a:ext>
            </a:extLst>
          </p:cNvPr>
          <p:cNvSpPr/>
          <p:nvPr/>
        </p:nvSpPr>
        <p:spPr>
          <a:xfrm>
            <a:off x="232172" y="2188845"/>
            <a:ext cx="241744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License &amp; Ownership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19F13C7-B28C-B23A-9DB0-4B8537D646AD}"/>
              </a:ext>
            </a:extLst>
          </p:cNvPr>
          <p:cNvSpPr/>
          <p:nvPr/>
        </p:nvSpPr>
        <p:spPr>
          <a:xfrm>
            <a:off x="3105864" y="2188845"/>
            <a:ext cx="4631174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Proprietary — requires licensing fees; restricts commercial and academic use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1DF8119-F69B-E5F7-E6FC-DE0776BA9C30}"/>
              </a:ext>
            </a:extLst>
          </p:cNvPr>
          <p:cNvSpPr/>
          <p:nvPr/>
        </p:nvSpPr>
        <p:spPr>
          <a:xfrm>
            <a:off x="8193286" y="2188845"/>
            <a:ext cx="3766542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open ISA — free to use, implement, and extend with no licensing fees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D747EF4-2BC5-241D-18F4-DF18A3203081}"/>
              </a:ext>
            </a:extLst>
          </p:cNvPr>
          <p:cNvSpPr/>
          <p:nvPr/>
        </p:nvSpPr>
        <p:spPr>
          <a:xfrm>
            <a:off x="7620" y="3043238"/>
            <a:ext cx="12184380" cy="995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2DE324A-C292-7E28-C59A-0063F1F20386}"/>
              </a:ext>
            </a:extLst>
          </p:cNvPr>
          <p:cNvSpPr/>
          <p:nvPr/>
        </p:nvSpPr>
        <p:spPr>
          <a:xfrm>
            <a:off x="232172" y="3183970"/>
            <a:ext cx="241744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38D1653-A681-2989-CEC0-0BF9511A1573}"/>
              </a:ext>
            </a:extLst>
          </p:cNvPr>
          <p:cNvSpPr/>
          <p:nvPr/>
        </p:nvSpPr>
        <p:spPr>
          <a:xfrm>
            <a:off x="3105864" y="3183970"/>
            <a:ext cx="4631174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Stanford University, 1981 — pioneered RISC principles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EF4B60B-63C5-DD8F-EDF7-8E1C6900A602}"/>
              </a:ext>
            </a:extLst>
          </p:cNvPr>
          <p:cNvSpPr/>
          <p:nvPr/>
        </p:nvSpPr>
        <p:spPr>
          <a:xfrm>
            <a:off x="8193286" y="3183970"/>
            <a:ext cx="3766542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 Berkeley, 2010 — benefits from nearly 30 years of ISA design hindsight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02EBC44-1B6D-2DC2-9E34-F53F52D130B7}"/>
              </a:ext>
            </a:extLst>
          </p:cNvPr>
          <p:cNvSpPr/>
          <p:nvPr/>
        </p:nvSpPr>
        <p:spPr>
          <a:xfrm>
            <a:off x="7620" y="4038362"/>
            <a:ext cx="12176760" cy="995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673725E-F136-E8DE-8647-B1A16D90F99A}"/>
              </a:ext>
            </a:extLst>
          </p:cNvPr>
          <p:cNvSpPr/>
          <p:nvPr/>
        </p:nvSpPr>
        <p:spPr>
          <a:xfrm>
            <a:off x="232172" y="4179094"/>
            <a:ext cx="241744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 Structure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6002F2E-C443-EA0F-D328-AF37F98EFB90}"/>
              </a:ext>
            </a:extLst>
          </p:cNvPr>
          <p:cNvSpPr/>
          <p:nvPr/>
        </p:nvSpPr>
        <p:spPr>
          <a:xfrm>
            <a:off x="3105864" y="4179094"/>
            <a:ext cx="4631174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Fixed, monolithic ISA — all instructions bundled together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739E69D-A39B-A75C-9EFD-0DD9D6D3C0FD}"/>
              </a:ext>
            </a:extLst>
          </p:cNvPr>
          <p:cNvSpPr/>
          <p:nvPr/>
        </p:nvSpPr>
        <p:spPr>
          <a:xfrm>
            <a:off x="8193285" y="4033085"/>
            <a:ext cx="3766542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Modular: base RV32I + optional extensions (M, F, C, V) for multiply, float, compressed, vector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984AC5C-4CF3-FE4C-155D-F26E5E04AEB3}"/>
              </a:ext>
            </a:extLst>
          </p:cNvPr>
          <p:cNvSpPr/>
          <p:nvPr/>
        </p:nvSpPr>
        <p:spPr>
          <a:xfrm>
            <a:off x="0" y="5290662"/>
            <a:ext cx="12192000" cy="1303377"/>
          </a:xfrm>
          <a:prstGeom prst="roundRect">
            <a:avLst>
              <a:gd name="adj" fmla="val 7229"/>
            </a:avLst>
          </a:prstGeom>
          <a:solidFill>
            <a:srgbClr val="D4D6DE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547B924-B25F-D28F-08CD-BEB78978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4" y="5633800"/>
            <a:ext cx="280392" cy="224314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3BF6C707-3F63-7AF6-D44F-E19EF290EF7E}"/>
              </a:ext>
            </a:extLst>
          </p:cNvPr>
          <p:cNvSpPr/>
          <p:nvPr/>
        </p:nvSpPr>
        <p:spPr>
          <a:xfrm>
            <a:off x="729020" y="5568553"/>
            <a:ext cx="12106870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RISC-V's modular design means a microcontroller and a supercomputer can share the same base ISA — a key pedagogical and industry advantage.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97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9EAB0-C689-1A44-1669-1E47EAEF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120" y="-18900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2 Different Operands</a:t>
            </a:r>
            <a:endParaRPr lang="zh-CN" altLang="en-US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A64159-C2A0-0A67-7C3D-3379FABCD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5089"/>
            <a:ext cx="3035465" cy="56593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F6D621-7CC8-4118-DB23-8238D3F4A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465" y="1205090"/>
            <a:ext cx="2762085" cy="56316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7724BD5-9E76-494D-CA21-67EF75C9DD09}"/>
              </a:ext>
            </a:extLst>
          </p:cNvPr>
          <p:cNvSpPr txBox="1"/>
          <p:nvPr/>
        </p:nvSpPr>
        <p:spPr>
          <a:xfrm>
            <a:off x="384256" y="374090"/>
            <a:ext cx="4032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 Registers in Register file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421988-EE90-A950-356D-D4D287F29061}"/>
              </a:ext>
            </a:extLst>
          </p:cNvPr>
          <p:cNvSpPr txBox="1"/>
          <p:nvPr/>
        </p:nvSpPr>
        <p:spPr>
          <a:xfrm>
            <a:off x="-63500" y="835756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D44676-1655-B5CB-3D8F-A21CCC374964}"/>
              </a:ext>
            </a:extLst>
          </p:cNvPr>
          <p:cNvSpPr txBox="1"/>
          <p:nvPr/>
        </p:nvSpPr>
        <p:spPr>
          <a:xfrm>
            <a:off x="3035465" y="808110"/>
            <a:ext cx="85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6650A52-B506-C390-E18D-18932E118C56}"/>
              </a:ext>
            </a:extLst>
          </p:cNvPr>
          <p:cNvSpPr/>
          <p:nvPr/>
        </p:nvSpPr>
        <p:spPr>
          <a:xfrm>
            <a:off x="6070930" y="1652191"/>
            <a:ext cx="2925842" cy="2251234"/>
          </a:xfrm>
          <a:prstGeom prst="roundRect">
            <a:avLst>
              <a:gd name="adj" fmla="val 336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B94650E-F1C9-A78A-F69A-697E0C1EA54B}"/>
              </a:ext>
            </a:extLst>
          </p:cNvPr>
          <p:cNvSpPr/>
          <p:nvPr/>
        </p:nvSpPr>
        <p:spPr>
          <a:xfrm>
            <a:off x="6273812" y="1855073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Naming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B8EE56D-6F6F-0179-A985-741B1DE74615}"/>
              </a:ext>
            </a:extLst>
          </p:cNvPr>
          <p:cNvSpPr/>
          <p:nvPr/>
        </p:nvSpPr>
        <p:spPr>
          <a:xfrm>
            <a:off x="6273812" y="2279412"/>
            <a:ext cx="2520077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$zero, $t0–$t9, $s0–$s7, $a0–$a3, $v0–$v1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EEF9A43-532E-78CF-11DB-36C9BD24FA9E}"/>
              </a:ext>
            </a:extLst>
          </p:cNvPr>
          <p:cNvSpPr/>
          <p:nvPr/>
        </p:nvSpPr>
        <p:spPr>
          <a:xfrm>
            <a:off x="6273812" y="2925088"/>
            <a:ext cx="2520077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x0–x31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ABI aliases 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zero, t0–t6, s0–s11, a0–a7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A706F15E-E6CA-5E22-706B-2F0A549F4875}"/>
              </a:ext>
            </a:extLst>
          </p:cNvPr>
          <p:cNvSpPr/>
          <p:nvPr/>
        </p:nvSpPr>
        <p:spPr>
          <a:xfrm>
            <a:off x="9139766" y="1652191"/>
            <a:ext cx="2925842" cy="2251234"/>
          </a:xfrm>
          <a:prstGeom prst="roundRect">
            <a:avLst>
              <a:gd name="adj" fmla="val 336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1105AF8-CA97-1569-AD80-7B2F73A6450F}"/>
              </a:ext>
            </a:extLst>
          </p:cNvPr>
          <p:cNvSpPr/>
          <p:nvPr/>
        </p:nvSpPr>
        <p:spPr>
          <a:xfrm>
            <a:off x="9342648" y="1855073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 Registers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656CDE1-3A21-5115-CD0B-65616ECE1631}"/>
              </a:ext>
            </a:extLst>
          </p:cNvPr>
          <p:cNvSpPr/>
          <p:nvPr/>
        </p:nvSpPr>
        <p:spPr>
          <a:xfrm>
            <a:off x="9342648" y="2279412"/>
            <a:ext cx="2520077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 registers (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$a0–$a3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6B5ACA1-1FA3-461C-6F18-954282651AC9}"/>
              </a:ext>
            </a:extLst>
          </p:cNvPr>
          <p:cNvSpPr/>
          <p:nvPr/>
        </p:nvSpPr>
        <p:spPr>
          <a:xfrm>
            <a:off x="9342648" y="2666603"/>
            <a:ext cx="2520077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 registers (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a0–a7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— fewer stack spills in function calls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750820F9-2F1B-818D-EFE7-4A0342D2DDB7}"/>
              </a:ext>
            </a:extLst>
          </p:cNvPr>
          <p:cNvSpPr/>
          <p:nvPr/>
        </p:nvSpPr>
        <p:spPr>
          <a:xfrm>
            <a:off x="6051632" y="4387546"/>
            <a:ext cx="2986979" cy="2009073"/>
          </a:xfrm>
          <a:prstGeom prst="roundRect">
            <a:avLst>
              <a:gd name="adj" fmla="val 379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9FB33BA6-8AFE-F864-8538-83E43BFC5FF7}"/>
              </a:ext>
            </a:extLst>
          </p:cNvPr>
          <p:cNvSpPr/>
          <p:nvPr/>
        </p:nvSpPr>
        <p:spPr>
          <a:xfrm>
            <a:off x="6268601" y="4542238"/>
            <a:ext cx="2298639" cy="283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Registers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C36A76F7-A4B0-B2D4-8D8F-A387A429C818}"/>
              </a:ext>
            </a:extLst>
          </p:cNvPr>
          <p:cNvSpPr/>
          <p:nvPr/>
        </p:nvSpPr>
        <p:spPr>
          <a:xfrm>
            <a:off x="6262993" y="4930758"/>
            <a:ext cx="2572736" cy="26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 registers (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$s0–$s7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F267137-83E4-04E0-E103-65D81598003B}"/>
              </a:ext>
            </a:extLst>
          </p:cNvPr>
          <p:cNvSpPr/>
          <p:nvPr/>
        </p:nvSpPr>
        <p:spPr>
          <a:xfrm>
            <a:off x="6262993" y="5356144"/>
            <a:ext cx="2572736" cy="5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12 registers (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s0–s11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— more local variable capacity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FBD7B1-AEB7-3A1E-A094-589D98B9D341}"/>
              </a:ext>
            </a:extLst>
          </p:cNvPr>
          <p:cNvSpPr txBox="1"/>
          <p:nvPr/>
        </p:nvSpPr>
        <p:spPr>
          <a:xfrm>
            <a:off x="6038127" y="832081"/>
            <a:ext cx="272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Operands Key Different: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E0C48B-C995-0301-32C8-486496A30251}"/>
              </a:ext>
            </a:extLst>
          </p:cNvPr>
          <p:cNvSpPr txBox="1"/>
          <p:nvPr/>
        </p:nvSpPr>
        <p:spPr>
          <a:xfrm>
            <a:off x="6038127" y="1320487"/>
            <a:ext cx="2613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Operands:</a:t>
            </a:r>
            <a:endParaRPr lang="zh-CN" alt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A7543A8-8ADF-F60B-B7DF-F78F9819D564}"/>
              </a:ext>
            </a:extLst>
          </p:cNvPr>
          <p:cNvSpPr/>
          <p:nvPr/>
        </p:nvSpPr>
        <p:spPr>
          <a:xfrm>
            <a:off x="9181605" y="4394629"/>
            <a:ext cx="2925842" cy="2001990"/>
          </a:xfrm>
          <a:prstGeom prst="roundRect">
            <a:avLst>
              <a:gd name="adj" fmla="val 336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676C282F-5C71-80F1-DC48-AE355837B65F}"/>
              </a:ext>
            </a:extLst>
          </p:cNvPr>
          <p:cNvSpPr/>
          <p:nvPr/>
        </p:nvSpPr>
        <p:spPr>
          <a:xfrm>
            <a:off x="9540322" y="4649225"/>
            <a:ext cx="2298639" cy="283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Width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E78B2BB7-2EC8-35B9-0646-16F648D5D6F4}"/>
              </a:ext>
            </a:extLst>
          </p:cNvPr>
          <p:cNvSpPr/>
          <p:nvPr/>
        </p:nvSpPr>
        <p:spPr>
          <a:xfrm>
            <a:off x="9534712" y="5073752"/>
            <a:ext cx="2572736" cy="26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16-bit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79EE1D3-591F-9B1B-1BBC-CE61776B83C5}"/>
              </a:ext>
            </a:extLst>
          </p:cNvPr>
          <p:cNvSpPr/>
          <p:nvPr/>
        </p:nvSpPr>
        <p:spPr>
          <a:xfrm>
            <a:off x="9534712" y="5456707"/>
            <a:ext cx="2572736" cy="781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12-bit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10EDE0-AF70-31B4-94D5-B0AEF33AF651}"/>
              </a:ext>
            </a:extLst>
          </p:cNvPr>
          <p:cNvSpPr txBox="1"/>
          <p:nvPr/>
        </p:nvSpPr>
        <p:spPr>
          <a:xfrm>
            <a:off x="9156535" y="4046419"/>
            <a:ext cx="1632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Operands:</a:t>
            </a:r>
            <a:endParaRPr lang="zh-CN" alt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85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37CE6-3171-2047-5152-C98B7808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2 Different Operations</a:t>
            </a:r>
            <a:endParaRPr lang="zh-CN" altLang="en-US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FC4871BA-6776-9BDB-3C21-5F5D231AEA1E}"/>
              </a:ext>
            </a:extLst>
          </p:cNvPr>
          <p:cNvSpPr/>
          <p:nvPr/>
        </p:nvSpPr>
        <p:spPr>
          <a:xfrm>
            <a:off x="1004259" y="1842815"/>
            <a:ext cx="3035300" cy="2144435"/>
          </a:xfrm>
          <a:prstGeom prst="roundRect">
            <a:avLst>
              <a:gd name="adj" fmla="val 379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A8F6874D-66B7-C0BC-D677-EF4E03BE8319}"/>
              </a:ext>
            </a:extLst>
          </p:cNvPr>
          <p:cNvSpPr/>
          <p:nvPr/>
        </p:nvSpPr>
        <p:spPr>
          <a:xfrm>
            <a:off x="1207141" y="2045698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Large Immediates</a:t>
            </a:r>
            <a:endParaRPr lang="en-US" sz="175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BA56B80F-425D-2569-90FA-3D99C842AF85}"/>
              </a:ext>
            </a:extLst>
          </p:cNvPr>
          <p:cNvSpPr/>
          <p:nvPr/>
        </p:nvSpPr>
        <p:spPr>
          <a:xfrm>
            <a:off x="1207141" y="2470037"/>
            <a:ext cx="2520077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pseudo-instruction hides complexity</a:t>
            </a:r>
            <a:endParaRPr lang="en-US" sz="14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704C926-71C1-F7FC-D8F1-09AB325351C1}"/>
              </a:ext>
            </a:extLst>
          </p:cNvPr>
          <p:cNvSpPr/>
          <p:nvPr/>
        </p:nvSpPr>
        <p:spPr>
          <a:xfrm>
            <a:off x="1207141" y="3115713"/>
            <a:ext cx="2520077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Explicit </a:t>
            </a:r>
            <a:r>
              <a:rPr lang="en-US" sz="14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lui + addi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transparent two-step process</a:t>
            </a:r>
            <a:endParaRPr lang="en-US" sz="140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64A819E8-50AB-907A-1CBB-075EDC6F3A45}"/>
              </a:ext>
            </a:extLst>
          </p:cNvPr>
          <p:cNvSpPr/>
          <p:nvPr/>
        </p:nvSpPr>
        <p:spPr>
          <a:xfrm>
            <a:off x="5184133" y="1690688"/>
            <a:ext cx="3695462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RISC-V Large Immediate Example</a:t>
            </a:r>
            <a:endParaRPr lang="en-US" sz="1750" dirty="0"/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FA2B86FD-1CF2-F729-BDA1-0653E2D9667A}"/>
              </a:ext>
            </a:extLst>
          </p:cNvPr>
          <p:cNvSpPr/>
          <p:nvPr/>
        </p:nvSpPr>
        <p:spPr>
          <a:xfrm>
            <a:off x="5184133" y="2132886"/>
            <a:ext cx="5994678" cy="1135499"/>
          </a:xfrm>
          <a:prstGeom prst="roundRect">
            <a:avLst>
              <a:gd name="adj" fmla="val 666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0AA80280-DD94-9349-E557-E258611C1A6F}"/>
              </a:ext>
            </a:extLst>
          </p:cNvPr>
          <p:cNvSpPr/>
          <p:nvPr/>
        </p:nvSpPr>
        <p:spPr>
          <a:xfrm>
            <a:off x="5175204" y="2132886"/>
            <a:ext cx="6012537" cy="1135499"/>
          </a:xfrm>
          <a:prstGeom prst="roundRect">
            <a:avLst>
              <a:gd name="adj" fmla="val 238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38A59ED-D9BC-4768-159B-732827F0B219}"/>
              </a:ext>
            </a:extLst>
          </p:cNvPr>
          <p:cNvSpPr/>
          <p:nvPr/>
        </p:nvSpPr>
        <p:spPr>
          <a:xfrm>
            <a:off x="5400351" y="2312909"/>
            <a:ext cx="5562243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Load 0x12345678 into t0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lui  t0, 0x12345    # upper 20 bits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addi t0, t0, 0x678 # lower 12 bits</a:t>
            </a:r>
            <a:endParaRPr lang="en-US" sz="1400" dirty="0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6E6D7DEC-A612-D40F-21FC-4A6BBCFD7D64}"/>
              </a:ext>
            </a:extLst>
          </p:cNvPr>
          <p:cNvSpPr/>
          <p:nvPr/>
        </p:nvSpPr>
        <p:spPr>
          <a:xfrm>
            <a:off x="5184133" y="3429239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MIPS Equivalent</a:t>
            </a:r>
            <a:endParaRPr lang="en-US" sz="175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1DAFF6D9-D6D6-7161-7C29-0392258775D9}"/>
              </a:ext>
            </a:extLst>
          </p:cNvPr>
          <p:cNvSpPr/>
          <p:nvPr/>
        </p:nvSpPr>
        <p:spPr>
          <a:xfrm>
            <a:off x="5184133" y="3871437"/>
            <a:ext cx="5994678" cy="877014"/>
          </a:xfrm>
          <a:prstGeom prst="roundRect">
            <a:avLst>
              <a:gd name="adj" fmla="val 86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D8098140-5E3F-8A65-A877-712DCE0DB54B}"/>
              </a:ext>
            </a:extLst>
          </p:cNvPr>
          <p:cNvSpPr/>
          <p:nvPr/>
        </p:nvSpPr>
        <p:spPr>
          <a:xfrm>
            <a:off x="5175204" y="3871437"/>
            <a:ext cx="6012537" cy="1736850"/>
          </a:xfrm>
          <a:prstGeom prst="roundRect">
            <a:avLst>
              <a:gd name="adj" fmla="val 30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1AD5BE3E-99C1-39BD-C718-9121DBA067CE}"/>
              </a:ext>
            </a:extLst>
          </p:cNvPr>
          <p:cNvSpPr/>
          <p:nvPr/>
        </p:nvSpPr>
        <p:spPr>
          <a:xfrm>
            <a:off x="5400351" y="4051460"/>
            <a:ext cx="5562243" cy="121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Single pseudo-instruction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li $t0, 0x12345678  </a:t>
            </a: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assembler expands internally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>
              <a:solidFill>
                <a:srgbClr val="6A737D"/>
              </a:solidFill>
              <a:highlight>
                <a:srgbClr val="F2F2F2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altLang="zh-CN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# Load 0x12345678 into $t0</a:t>
            </a:r>
          </a:p>
          <a:p>
            <a:r>
              <a:rPr lang="en-US" altLang="zh-CN" sz="14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lui</a:t>
            </a:r>
            <a:r>
              <a:rPr lang="en-US" altLang="zh-CN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  $t0, 0x1234      # upper 16 bits</a:t>
            </a:r>
          </a:p>
          <a:p>
            <a:r>
              <a:rPr lang="en-US" altLang="zh-CN" sz="1400" dirty="0" err="1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ori</a:t>
            </a:r>
            <a:r>
              <a:rPr lang="en-US" altLang="zh-CN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</a:rPr>
              <a:t>  $t0, $t0, 0x5678 # lower 16 bits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A93977CE-1CC2-71F6-7751-12699AEAB2AC}"/>
              </a:ext>
            </a:extLst>
          </p:cNvPr>
          <p:cNvSpPr/>
          <p:nvPr/>
        </p:nvSpPr>
        <p:spPr>
          <a:xfrm>
            <a:off x="5184133" y="5866061"/>
            <a:ext cx="5994678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RISC-V makes the two-step load explicit — reinforcing how hardware actually handles large constants, a valuable teaching moment.</a:t>
            </a:r>
            <a:endParaRPr 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36CCD9-B084-1C09-DF84-CE35E0AC74E3}"/>
              </a:ext>
            </a:extLst>
          </p:cNvPr>
          <p:cNvSpPr txBox="1"/>
          <p:nvPr/>
        </p:nvSpPr>
        <p:spPr>
          <a:xfrm>
            <a:off x="2055315" y="1252205"/>
            <a:ext cx="678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</a:t>
            </a:r>
            <a:endParaRPr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048FE6D-E045-A881-5C63-9349A678E12B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769391" y="1529204"/>
            <a:ext cx="625214" cy="977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E713C54-7C84-7BE7-9905-7BE19D3C32E8}"/>
              </a:ext>
            </a:extLst>
          </p:cNvPr>
          <p:cNvSpPr txBox="1"/>
          <p:nvPr/>
        </p:nvSpPr>
        <p:spPr>
          <a:xfrm>
            <a:off x="956301" y="4488120"/>
            <a:ext cx="355518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/>
              <a:t>ori</a:t>
            </a:r>
            <a:r>
              <a:rPr lang="en-US" altLang="zh-CN" sz="1000" dirty="0"/>
              <a:t> is a pure bitwise operation — it doesn't care whether the top bit is 0 or 1, it just stitches the bits together. </a:t>
            </a:r>
            <a:r>
              <a:rPr lang="en-US" altLang="zh-CN" sz="1000" dirty="0" err="1"/>
              <a:t>addi</a:t>
            </a:r>
            <a:r>
              <a:rPr lang="en-US" altLang="zh-CN" sz="1000" dirty="0"/>
              <a:t>, however, treats its 12-bit immediate as a signed number. If the top bit is 1, the hardware sign-extends it — filling all the upper bits with 1s — which means the value is interpreted as negative. For example, 0x800 becomes -2048 instead of +2048, making the result 4096 too small.</a:t>
            </a:r>
            <a:endParaRPr lang="zh-CN" altLang="zh-CN" sz="1000" dirty="0"/>
          </a:p>
          <a:p>
            <a:r>
              <a:rPr lang="en-US" altLang="zh-CN" sz="1000" dirty="0"/>
              <a:t>So how does RISC-V fix this? The assembler handles it automatically. When it sees a </a:t>
            </a:r>
            <a:r>
              <a:rPr lang="en-US" altLang="zh-CN" sz="1000" dirty="0" err="1"/>
              <a:t>lui</a:t>
            </a:r>
            <a:r>
              <a:rPr lang="en-US" altLang="zh-CN" sz="1000" dirty="0"/>
              <a:t> followed by an </a:t>
            </a:r>
            <a:r>
              <a:rPr lang="en-US" altLang="zh-CN" sz="1000" dirty="0" err="1"/>
              <a:t>addi</a:t>
            </a:r>
            <a:r>
              <a:rPr lang="en-US" altLang="zh-CN" sz="1000" dirty="0"/>
              <a:t> whose lower 12 bits have a top bit of 1, it quietly adds 1 to the </a:t>
            </a:r>
            <a:r>
              <a:rPr lang="en-US" altLang="zh-CN" sz="1000" dirty="0" err="1"/>
              <a:t>lui</a:t>
            </a:r>
            <a:r>
              <a:rPr lang="en-US" altLang="zh-CN" sz="1000" dirty="0"/>
              <a:t> value — effectively adding 4096 upfront to cancel out the -4096 that </a:t>
            </a:r>
            <a:r>
              <a:rPr lang="en-US" altLang="zh-CN" sz="1000" dirty="0" err="1"/>
              <a:t>addi</a:t>
            </a:r>
            <a:r>
              <a:rPr lang="en-US" altLang="zh-CN" sz="1000" dirty="0"/>
              <a:t> will introduce. The result is always correct, and the programmer never has to think about it.</a:t>
            </a:r>
            <a:endParaRPr lang="zh-CN" altLang="zh-CN" sz="1000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F1DC5D-3797-2695-9472-7DAC2B383942}"/>
              </a:ext>
            </a:extLst>
          </p:cNvPr>
          <p:cNvSpPr txBox="1"/>
          <p:nvPr/>
        </p:nvSpPr>
        <p:spPr>
          <a:xfrm>
            <a:off x="9485460" y="880493"/>
            <a:ext cx="26334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The deeper point here is that RISC-V makes this two-step process visible, rather than hiding it like MIPS does. That transparency is exactly what makes it a better teaching architecture — you can see how the hardware actually handles large constants, step by step.</a:t>
            </a:r>
            <a:endParaRPr lang="zh-CN" altLang="zh-CN" sz="1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99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2B81AA0-E2D8-CF68-229C-9CAC33F0CFD3}"/>
              </a:ext>
            </a:extLst>
          </p:cNvPr>
          <p:cNvSpPr/>
          <p:nvPr/>
        </p:nvSpPr>
        <p:spPr>
          <a:xfrm>
            <a:off x="268883" y="625475"/>
            <a:ext cx="662821" cy="285274"/>
          </a:xfrm>
          <a:prstGeom prst="roundRect">
            <a:avLst>
              <a:gd name="adj" fmla="val 19655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AD8E10-B199-BAB2-3B84-DCE29450C3D4}"/>
              </a:ext>
            </a:extLst>
          </p:cNvPr>
          <p:cNvSpPr/>
          <p:nvPr/>
        </p:nvSpPr>
        <p:spPr>
          <a:xfrm>
            <a:off x="368895" y="675481"/>
            <a:ext cx="462796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 3</a:t>
            </a:r>
            <a:endParaRPr lang="en-US" sz="10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6D0B138-53D5-D906-D436-7E033FEEB359}"/>
              </a:ext>
            </a:extLst>
          </p:cNvPr>
          <p:cNvSpPr/>
          <p:nvPr/>
        </p:nvSpPr>
        <p:spPr>
          <a:xfrm>
            <a:off x="268883" y="959803"/>
            <a:ext cx="4267676" cy="41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Control Flow &amp; Procedures</a:t>
            </a:r>
            <a:endParaRPr lang="en-US" sz="2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1773FEF-5002-EA9B-7455-9B9C78875CFC}"/>
              </a:ext>
            </a:extLst>
          </p:cNvPr>
          <p:cNvSpPr/>
          <p:nvPr/>
        </p:nvSpPr>
        <p:spPr>
          <a:xfrm>
            <a:off x="8057634" y="699056"/>
            <a:ext cx="208585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Instructions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E21706-7FA5-349F-5475-7B095ADC8056}"/>
              </a:ext>
            </a:extLst>
          </p:cNvPr>
          <p:cNvSpPr/>
          <p:nvPr/>
        </p:nvSpPr>
        <p:spPr>
          <a:xfrm>
            <a:off x="8057634" y="1082556"/>
            <a:ext cx="3765471" cy="69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provides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beq, bne, blt, bgt, ble, bge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RISC-V uses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beq, bne, blt, bge, bltu, bgeu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no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bgt/ble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swap operands instead.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BEA1521-3055-3E80-4644-7049D0F4C10D}"/>
              </a:ext>
            </a:extLst>
          </p:cNvPr>
          <p:cNvSpPr/>
          <p:nvPr/>
        </p:nvSpPr>
        <p:spPr>
          <a:xfrm>
            <a:off x="8057634" y="1900396"/>
            <a:ext cx="208585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Method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45D4372-9B83-0BD8-E95D-BE41FCB0C28D}"/>
              </a:ext>
            </a:extLst>
          </p:cNvPr>
          <p:cNvSpPr/>
          <p:nvPr/>
        </p:nvSpPr>
        <p:spPr>
          <a:xfrm>
            <a:off x="8057634" y="2283896"/>
            <a:ext cx="3765471" cy="69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uses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slt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combined with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beq/bne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RISC-V branch instructions directly compare two registers — fewer instructions, cleaner code.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1854439-E53B-8250-78EA-505383B45EA4}"/>
              </a:ext>
            </a:extLst>
          </p:cNvPr>
          <p:cNvSpPr/>
          <p:nvPr/>
        </p:nvSpPr>
        <p:spPr>
          <a:xfrm>
            <a:off x="8057634" y="3101737"/>
            <a:ext cx="208585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Return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F8CDF42-EBB6-34BF-CC75-FC7B9AD182DA}"/>
              </a:ext>
            </a:extLst>
          </p:cNvPr>
          <p:cNvSpPr/>
          <p:nvPr/>
        </p:nvSpPr>
        <p:spPr>
          <a:xfrm>
            <a:off x="8057634" y="3485237"/>
            <a:ext cx="3765471" cy="46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jr $ra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RISC-V: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(expands to </a:t>
            </a:r>
            <a:r>
              <a:rPr lang="en-US" sz="13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jalr x0, ra, 0</a:t>
            </a:r>
            <a:r>
              <a:rPr lang="en-US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more descriptive and readable.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C85729B-A549-4306-5987-8FA719B7A5CF}"/>
              </a:ext>
            </a:extLst>
          </p:cNvPr>
          <p:cNvSpPr/>
          <p:nvPr/>
        </p:nvSpPr>
        <p:spPr>
          <a:xfrm>
            <a:off x="8057634" y="4071382"/>
            <a:ext cx="208585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Delay Slot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CBE21F5-B301-9FAF-82C9-647587FAF829}"/>
              </a:ext>
            </a:extLst>
          </p:cNvPr>
          <p:cNvSpPr/>
          <p:nvPr/>
        </p:nvSpPr>
        <p:spPr>
          <a:xfrm>
            <a:off x="8057634" y="4454882"/>
            <a:ext cx="3765471" cy="69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 Branch instructions have a delay slot — the instruction immediately after a branch always executes regardless of the outcome, forcing programmers and compilers to manually fill this slot or waste a cycle with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nop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 No delay slot exists — branches take effect immediately, making code </a:t>
            </a:r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intuitive and eliminating a legacy workaround that was only needed for 1980s pipeline designs.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29410CC-78E0-98AA-88B3-484842735140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 flipH="1" flipV="1">
            <a:off x="7183677" y="1430099"/>
            <a:ext cx="8739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E262EBA-E238-19A2-E420-E93D13D15845}"/>
              </a:ext>
            </a:extLst>
          </p:cNvPr>
          <p:cNvSpPr txBox="1"/>
          <p:nvPr/>
        </p:nvSpPr>
        <p:spPr>
          <a:xfrm>
            <a:off x="3858017" y="483686"/>
            <a:ext cx="332566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follows a minimal instruction set philosophy — if an operation can be achieved by reusing an existing instruction with swapped operands, no new instruction is needed.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bgt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redundant: swapping the two register operands in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blt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bge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produces identical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RISC-V deliberately omits them to reduce hardware complexity.</a:t>
            </a:r>
            <a:endParaRPr lang="zh-CN" altLang="en-US" sz="1300" dirty="0">
              <a:solidFill>
                <a:srgbClr val="52586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5256D4-0431-EED8-BDE3-C9844EE79D3A}"/>
              </a:ext>
            </a:extLst>
          </p:cNvPr>
          <p:cNvSpPr txBox="1"/>
          <p:nvPr/>
        </p:nvSpPr>
        <p:spPr>
          <a:xfrm>
            <a:off x="9927519" y="282515"/>
            <a:ext cx="269935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</a:t>
            </a:r>
          </a:p>
          <a:p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bgt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a, b, L =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blt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b, a, L </a:t>
            </a:r>
            <a:b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a, b, L = </a:t>
            </a:r>
            <a:r>
              <a:rPr lang="en-US" altLang="zh-CN" sz="1300" dirty="0" err="1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bge</a:t>
            </a:r>
            <a:r>
              <a:rPr lang="en-US" altLang="zh-CN" sz="13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b, a, L</a:t>
            </a:r>
            <a:endParaRPr lang="zh-CN" altLang="en-US" sz="1300" dirty="0">
              <a:solidFill>
                <a:srgbClr val="52586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B3159E-F810-BE06-8D6D-B09C35AFD775}"/>
              </a:ext>
            </a:extLst>
          </p:cNvPr>
          <p:cNvSpPr txBox="1"/>
          <p:nvPr/>
        </p:nvSpPr>
        <p:spPr>
          <a:xfrm>
            <a:off x="6544340" y="2378818"/>
            <a:ext cx="12786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</a:t>
            </a: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b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slt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$t0, $s0, $s1</a:t>
            </a:r>
          </a:p>
          <a:p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bne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$t0, $zero, L</a:t>
            </a:r>
          </a:p>
          <a:p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b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blt</a:t>
            </a:r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x18, x19, L</a:t>
            </a:r>
            <a:endParaRPr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1D727CC-206F-7977-F522-A1D0758297A5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flipH="1">
            <a:off x="7823013" y="2631440"/>
            <a:ext cx="234621" cy="439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A9FAEE9-4431-2ADF-D8B4-2D8C4343C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82" y="2631441"/>
            <a:ext cx="6263873" cy="3496104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2C7218C-47D8-4B96-CA5E-DDB577FCF52A}"/>
              </a:ext>
            </a:extLst>
          </p:cNvPr>
          <p:cNvCxnSpPr>
            <a:stCxn id="9" idx="0"/>
            <a:endCxn id="8" idx="3"/>
          </p:cNvCxnSpPr>
          <p:nvPr/>
        </p:nvCxnSpPr>
        <p:spPr>
          <a:xfrm flipV="1">
            <a:off x="9940370" y="829430"/>
            <a:ext cx="203120" cy="253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11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AAA9A6E-4E0B-2012-89D1-D79171E47432}"/>
              </a:ext>
            </a:extLst>
          </p:cNvPr>
          <p:cNvSpPr/>
          <p:nvPr/>
        </p:nvSpPr>
        <p:spPr>
          <a:xfrm>
            <a:off x="261063" y="183040"/>
            <a:ext cx="695325" cy="303133"/>
          </a:xfrm>
          <a:prstGeom prst="roundRect">
            <a:avLst>
              <a:gd name="adj" fmla="val 19400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5B00555-943F-59BF-28F2-88A1878CD95E}"/>
              </a:ext>
            </a:extLst>
          </p:cNvPr>
          <p:cNvSpPr/>
          <p:nvPr/>
        </p:nvSpPr>
        <p:spPr>
          <a:xfrm>
            <a:off x="365958" y="225862"/>
            <a:ext cx="485537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4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D7B5E9F-93DB-5F9D-FA75-51A756A98BFA}"/>
              </a:ext>
            </a:extLst>
          </p:cNvPr>
          <p:cNvSpPr/>
          <p:nvPr/>
        </p:nvSpPr>
        <p:spPr>
          <a:xfrm>
            <a:off x="365958" y="410290"/>
            <a:ext cx="7546658" cy="54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 Encoding &amp; Instruction Formats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E4EC06B-AEDA-49C1-A8E6-FA6E699573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" r="2298"/>
          <a:stretch>
            <a:fillRect/>
          </a:stretch>
        </p:blipFill>
        <p:spPr>
          <a:xfrm>
            <a:off x="438000" y="1108511"/>
            <a:ext cx="5230027" cy="236847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213D571-65C2-8FED-5155-8C0E25AA9E01}"/>
              </a:ext>
            </a:extLst>
          </p:cNvPr>
          <p:cNvSpPr txBox="1"/>
          <p:nvPr/>
        </p:nvSpPr>
        <p:spPr>
          <a:xfrm>
            <a:off x="365958" y="3501038"/>
            <a:ext cx="4648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https://en.wikipedia.org/wiki/RISC-V#ISA_base_and_extensions</a:t>
            </a:r>
            <a:endParaRPr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E1F463D-482D-AB37-7BAB-09EB10D54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68" y="216185"/>
            <a:ext cx="4369702" cy="240292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9081E10-1BAA-28E2-1892-4D5CA7D3F559}"/>
              </a:ext>
            </a:extLst>
          </p:cNvPr>
          <p:cNvSpPr txBox="1"/>
          <p:nvPr/>
        </p:nvSpPr>
        <p:spPr>
          <a:xfrm>
            <a:off x="6653168" y="2521246"/>
            <a:ext cx="5708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https://www.researchgate.net/figure/Three-different-32-bit-instruction-formats-of-MIPS-architecture-37-Rs-Source_fig2_359971270</a:t>
            </a:r>
            <a:endParaRPr lang="zh-CN" alt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14701C18-3C1F-87D7-CC8B-E6F85EF643A7}"/>
              </a:ext>
            </a:extLst>
          </p:cNvPr>
          <p:cNvSpPr/>
          <p:nvPr/>
        </p:nvSpPr>
        <p:spPr>
          <a:xfrm>
            <a:off x="235118" y="3995340"/>
            <a:ext cx="2925842" cy="2862659"/>
          </a:xfrm>
          <a:prstGeom prst="roundRect">
            <a:avLst>
              <a:gd name="adj" fmla="val 336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E8E6813-39BB-455B-0BD8-5CE10CE4722C}"/>
              </a:ext>
            </a:extLst>
          </p:cNvPr>
          <p:cNvSpPr/>
          <p:nvPr/>
        </p:nvSpPr>
        <p:spPr>
          <a:xfrm>
            <a:off x="438000" y="4198223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 Formats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9364D883-A4C6-0229-6405-E180A5A38C1A}"/>
              </a:ext>
            </a:extLst>
          </p:cNvPr>
          <p:cNvSpPr/>
          <p:nvPr/>
        </p:nvSpPr>
        <p:spPr>
          <a:xfrm>
            <a:off x="438000" y="4622562"/>
            <a:ext cx="2520077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 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formats (R, I, J).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8D4C2130-182F-C7EE-DE1A-25B834CAE5DC}"/>
              </a:ext>
            </a:extLst>
          </p:cNvPr>
          <p:cNvSpPr/>
          <p:nvPr/>
        </p:nvSpPr>
        <p:spPr>
          <a:xfrm>
            <a:off x="430182" y="5060315"/>
            <a:ext cx="2520077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 formats (R, I, S, B, </a:t>
            </a:r>
            <a:r>
              <a:rPr lang="en-US" altLang="zh-CN" sz="1400" dirty="0">
                <a:solidFill>
                  <a:srgbClr val="52586B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J) — separating store, branch, and upper-immediate operations.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E5C90AAF-D7C6-F4D9-23D3-40811AEA44B5}"/>
              </a:ext>
            </a:extLst>
          </p:cNvPr>
          <p:cNvSpPr/>
          <p:nvPr/>
        </p:nvSpPr>
        <p:spPr>
          <a:xfrm>
            <a:off x="3168778" y="4013914"/>
            <a:ext cx="2925842" cy="2844086"/>
          </a:xfrm>
          <a:prstGeom prst="roundRect">
            <a:avLst>
              <a:gd name="adj" fmla="val 336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95AE3DD-13CF-3F80-420C-EDEC0199A6D4}"/>
              </a:ext>
            </a:extLst>
          </p:cNvPr>
          <p:cNvSpPr/>
          <p:nvPr/>
        </p:nvSpPr>
        <p:spPr>
          <a:xfrm>
            <a:off x="3371661" y="4216796"/>
            <a:ext cx="1441640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Opcode Width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5422D4D0-9C0C-7E2E-DCEC-E9F1AE5ACA13}"/>
              </a:ext>
            </a:extLst>
          </p:cNvPr>
          <p:cNvSpPr/>
          <p:nvPr/>
        </p:nvSpPr>
        <p:spPr>
          <a:xfrm>
            <a:off x="3371660" y="4563169"/>
            <a:ext cx="2520077" cy="437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6-bit opcode → 64</a:t>
            </a:r>
          </a:p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opcodes.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2F746DB-7E0E-8107-7702-963A1FF66132}"/>
              </a:ext>
            </a:extLst>
          </p:cNvPr>
          <p:cNvSpPr/>
          <p:nvPr/>
        </p:nvSpPr>
        <p:spPr>
          <a:xfrm>
            <a:off x="3371659" y="5240417"/>
            <a:ext cx="2520077" cy="77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7-bit opcode → 128 opcodes, leaving room for future extensions.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1CE79164-40CF-5E56-285F-9A73C5CA28DD}"/>
              </a:ext>
            </a:extLst>
          </p:cNvPr>
          <p:cNvSpPr/>
          <p:nvPr/>
        </p:nvSpPr>
        <p:spPr>
          <a:xfrm>
            <a:off x="6115060" y="4023121"/>
            <a:ext cx="2925842" cy="2834877"/>
          </a:xfrm>
          <a:prstGeom prst="roundRect">
            <a:avLst>
              <a:gd name="adj" fmla="val 379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ACC0050-32C2-9EB7-CD5E-134465699B56}"/>
              </a:ext>
            </a:extLst>
          </p:cNvPr>
          <p:cNvSpPr/>
          <p:nvPr/>
        </p:nvSpPr>
        <p:spPr>
          <a:xfrm>
            <a:off x="6203642" y="421068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Register Positions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E93E5619-53E2-5222-A259-E383D47A9483}"/>
              </a:ext>
            </a:extLst>
          </p:cNvPr>
          <p:cNvSpPr/>
          <p:nvPr/>
        </p:nvSpPr>
        <p:spPr>
          <a:xfrm>
            <a:off x="6317942" y="4651591"/>
            <a:ext cx="2520077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</a:t>
            </a:r>
            <a:r>
              <a:rPr lang="en-US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keeps </a:t>
            </a:r>
            <a:r>
              <a:rPr lang="en-US" altLang="zh-CN" sz="1400" dirty="0" err="1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altLang="zh-CN" sz="1400" dirty="0">
                <a:solidFill>
                  <a:srgbClr val="52586B"/>
                </a:solidFill>
                <a:highlight>
                  <a:srgbClr val="F2F2F2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rs1, rs2</a:t>
            </a:r>
            <a:r>
              <a:rPr lang="en-US" altLang="zh-CN" sz="14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identical bit positions across all formats — dramatically simplifying hardware decode logic.</a:t>
            </a:r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000"/>
              </a:lnSpc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D8DE2439-23FB-6454-4286-D505F783C271}"/>
              </a:ext>
            </a:extLst>
          </p:cNvPr>
          <p:cNvSpPr/>
          <p:nvPr/>
        </p:nvSpPr>
        <p:spPr>
          <a:xfrm>
            <a:off x="9061342" y="2950129"/>
            <a:ext cx="2925842" cy="3907869"/>
          </a:xfrm>
          <a:prstGeom prst="roundRect">
            <a:avLst>
              <a:gd name="adj" fmla="val 379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9994362-BEEC-87FC-E9F5-B855A17E5D4D}"/>
              </a:ext>
            </a:extLst>
          </p:cNvPr>
          <p:cNvSpPr/>
          <p:nvPr/>
        </p:nvSpPr>
        <p:spPr>
          <a:xfrm>
            <a:off x="9398467" y="3098560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altLang="zh-CN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PC-Relative Addressing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BA01F93-C309-CC90-3B0B-14053DA913A7}"/>
              </a:ext>
            </a:extLst>
          </p:cNvPr>
          <p:cNvSpPr/>
          <p:nvPr/>
        </p:nvSpPr>
        <p:spPr>
          <a:xfrm>
            <a:off x="9305964" y="3422979"/>
            <a:ext cx="2520078" cy="323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altLang="zh-CN" sz="10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</a:t>
            </a:r>
            <a:r>
              <a:rPr lang="zh-CN" altLang="en-US" sz="10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pseudo-absolute addressing — the jump instruction stores a 26-bit target field, which is combined with the upper 4 bits of the current PC to form a 32-bit address, locking jumps within the current 256MB memory region. j 0x1000_0050 → target = PC[31:28] + 26-bit field + 00</a:t>
            </a:r>
          </a:p>
          <a:p>
            <a:pPr>
              <a:lnSpc>
                <a:spcPts val="1950"/>
              </a:lnSpc>
            </a:pPr>
            <a:endParaRPr lang="en-US" altLang="zh-C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950"/>
              </a:lnSpc>
            </a:pPr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RISC-V:  </a:t>
            </a:r>
            <a:r>
              <a:rPr lang="en-US" altLang="zh-CN" sz="1000" dirty="0"/>
              <a:t>PC-relative addressing — the jump instruction stores only a signed offset from the current PC, so the program runs correctly regardless of where it is loaded in memory. </a:t>
            </a:r>
            <a:r>
              <a:rPr lang="en-US" altLang="zh-CN" sz="1000" dirty="0" err="1"/>
              <a:t>jal</a:t>
            </a:r>
            <a:r>
              <a:rPr lang="en-US" altLang="zh-CN" sz="1000" dirty="0"/>
              <a:t> </a:t>
            </a:r>
            <a:r>
              <a:rPr lang="en-US" altLang="zh-CN" sz="1000" dirty="0" err="1"/>
              <a:t>ra</a:t>
            </a:r>
            <a:r>
              <a:rPr lang="en-US" altLang="zh-CN" sz="1000" dirty="0"/>
              <a:t>, foo → target = PC + 0x50</a:t>
            </a:r>
            <a:endParaRPr lang="en-US" altLang="zh-C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0FEA68-3BA9-7B2B-D3C6-8AD6D0CAA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028" y="1237535"/>
            <a:ext cx="855948" cy="218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99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507A13D-F0C5-3E10-8A8C-3CDF4753B65D}"/>
              </a:ext>
            </a:extLst>
          </p:cNvPr>
          <p:cNvSpPr/>
          <p:nvPr/>
        </p:nvSpPr>
        <p:spPr>
          <a:xfrm>
            <a:off x="79434" y="107394"/>
            <a:ext cx="613053" cy="258366"/>
          </a:xfrm>
          <a:prstGeom prst="roundRect">
            <a:avLst>
              <a:gd name="adj" fmla="val 20076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DA3C5DE-B25E-E662-B48A-3B12EB0D1845}"/>
              </a:ext>
            </a:extLst>
          </p:cNvPr>
          <p:cNvSpPr/>
          <p:nvPr/>
        </p:nvSpPr>
        <p:spPr>
          <a:xfrm>
            <a:off x="171946" y="153590"/>
            <a:ext cx="428030" cy="16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5</a:t>
            </a:r>
            <a:endParaRPr lang="en-US" sz="9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4ED18D0-5E65-1882-D779-9A89E526CB80}"/>
              </a:ext>
            </a:extLst>
          </p:cNvPr>
          <p:cNvSpPr/>
          <p:nvPr/>
        </p:nvSpPr>
        <p:spPr>
          <a:xfrm>
            <a:off x="121582" y="404774"/>
            <a:ext cx="4644571" cy="48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Single-Cycle Processor Design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08DE7C5-D5B5-934B-8B09-FE360412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72" y="619069"/>
            <a:ext cx="9692997" cy="5133975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12364BB-2EB7-CB82-1D3E-EEB3FB4CA9E2}"/>
              </a:ext>
            </a:extLst>
          </p:cNvPr>
          <p:cNvSpPr/>
          <p:nvPr/>
        </p:nvSpPr>
        <p:spPr>
          <a:xfrm>
            <a:off x="1960189" y="4150128"/>
            <a:ext cx="2396564" cy="29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endParaRPr lang="en-US" sz="1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6E0964D-DF35-3137-2941-30E940E6083B}"/>
              </a:ext>
            </a:extLst>
          </p:cNvPr>
          <p:cNvSpPr/>
          <p:nvPr/>
        </p:nvSpPr>
        <p:spPr>
          <a:xfrm>
            <a:off x="1789767" y="4534910"/>
            <a:ext cx="2566987" cy="40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PC+4 logic identical in both ISAs.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CD41220-140F-9AB6-AF50-216A4D8A9878}"/>
              </a:ext>
            </a:extLst>
          </p:cNvPr>
          <p:cNvSpPr/>
          <p:nvPr/>
        </p:nvSpPr>
        <p:spPr>
          <a:xfrm>
            <a:off x="1022866" y="1157752"/>
            <a:ext cx="2396564" cy="29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</a:t>
            </a:r>
            <a:endParaRPr lang="en-US" sz="1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339F7DB-F619-1320-7B98-12393E1DC38E}"/>
              </a:ext>
            </a:extLst>
          </p:cNvPr>
          <p:cNvSpPr/>
          <p:nvPr/>
        </p:nvSpPr>
        <p:spPr>
          <a:xfrm>
            <a:off x="852444" y="1542533"/>
            <a:ext cx="2566987" cy="40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fully decodes before register read; variable fields.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606514D-03FE-559F-6CEE-837A6E4777BA}"/>
              </a:ext>
            </a:extLst>
          </p:cNvPr>
          <p:cNvSpPr/>
          <p:nvPr/>
        </p:nvSpPr>
        <p:spPr>
          <a:xfrm>
            <a:off x="6604198" y="1157752"/>
            <a:ext cx="2396564" cy="29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</a:t>
            </a:r>
            <a:endParaRPr lang="en-US" sz="1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C3576BA-A173-ABDF-B818-06DA517314E9}"/>
              </a:ext>
            </a:extLst>
          </p:cNvPr>
          <p:cNvSpPr/>
          <p:nvPr/>
        </p:nvSpPr>
        <p:spPr>
          <a:xfrm>
            <a:off x="6604198" y="1542533"/>
            <a:ext cx="2566987" cy="40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uses simple contiguous sign-extension of immediates.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3CD4501-0245-89B5-58B0-21E6F357C547}"/>
              </a:ext>
            </a:extLst>
          </p:cNvPr>
          <p:cNvSpPr/>
          <p:nvPr/>
        </p:nvSpPr>
        <p:spPr>
          <a:xfrm>
            <a:off x="7509567" y="4150294"/>
            <a:ext cx="2396564" cy="29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endParaRPr lang="en-US" sz="1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8692165-E241-FC06-D126-98490AAC4B5F}"/>
              </a:ext>
            </a:extLst>
          </p:cNvPr>
          <p:cNvSpPr/>
          <p:nvPr/>
        </p:nvSpPr>
        <p:spPr>
          <a:xfrm>
            <a:off x="7509567" y="4535076"/>
            <a:ext cx="2566987" cy="40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MIPS:6+6 bits; RISC-V:7+3+7 control fields.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84C43250-9324-4F5D-0E50-0B478C675ADD}"/>
              </a:ext>
            </a:extLst>
          </p:cNvPr>
          <p:cNvSpPr/>
          <p:nvPr/>
        </p:nvSpPr>
        <p:spPr>
          <a:xfrm>
            <a:off x="463172" y="5372633"/>
            <a:ext cx="5359718" cy="1168360"/>
          </a:xfrm>
          <a:prstGeom prst="roundRect">
            <a:avLst>
              <a:gd name="adj" fmla="val 9513"/>
            </a:avLst>
          </a:prstGeom>
          <a:solidFill>
            <a:srgbClr val="373B48">
              <a:alpha val="95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3B4E1E3-5E49-3357-0964-D4B23C813CB6}"/>
              </a:ext>
            </a:extLst>
          </p:cNvPr>
          <p:cNvSpPr/>
          <p:nvPr/>
        </p:nvSpPr>
        <p:spPr>
          <a:xfrm>
            <a:off x="617477" y="5477646"/>
            <a:ext cx="1929646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MIPS Datapath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EB158BF-5131-8D7A-5C0C-0F9662042762}"/>
              </a:ext>
            </a:extLst>
          </p:cNvPr>
          <p:cNvSpPr/>
          <p:nvPr/>
        </p:nvSpPr>
        <p:spPr>
          <a:xfrm>
            <a:off x="617477" y="5823879"/>
            <a:ext cx="5051108" cy="415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full decode before register file read. Simple contiguous immediate fields. Control driven by 6-bit opcode + 6-bit funct.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4B01C21-BF2D-2E1D-C4D7-BDCEBB4D8DB4}"/>
              </a:ext>
            </a:extLst>
          </p:cNvPr>
          <p:cNvSpPr/>
          <p:nvPr/>
        </p:nvSpPr>
        <p:spPr>
          <a:xfrm>
            <a:off x="6501289" y="5344907"/>
            <a:ext cx="1929646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Datapath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B609202-8910-2591-DE44-760BE210C118}"/>
              </a:ext>
            </a:extLst>
          </p:cNvPr>
          <p:cNvSpPr/>
          <p:nvPr/>
        </p:nvSpPr>
        <p:spPr>
          <a:xfrm>
            <a:off x="6501289" y="5691140"/>
            <a:ext cx="5137547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register field positions allow early register read — before full decode completes. Split immediates require reassembly logic. Control uses 7-bit opcode + funct3 + funct7 — more structured and extensible.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990649-45BC-6A54-03C5-1BD28DEF3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185" y="1763655"/>
            <a:ext cx="2683927" cy="119454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52E3CE-1BC7-4C2E-FBA4-81FF40D76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279" y="3154141"/>
            <a:ext cx="2696833" cy="133833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518F287-62C7-0BF4-507E-80320387B49F}"/>
              </a:ext>
            </a:extLst>
          </p:cNvPr>
          <p:cNvSpPr txBox="1"/>
          <p:nvPr/>
        </p:nvSpPr>
        <p:spPr>
          <a:xfrm>
            <a:off x="20776" y="2770884"/>
            <a:ext cx="3107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</a:t>
            </a:r>
          </a:p>
          <a:p>
            <a:r>
              <a:rPr lang="fr-FR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instruction</a:t>
            </a:r>
          </a:p>
          <a:p>
            <a:r>
              <a:rPr lang="fr-FR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lw $t0, 0($s0) → rt = $t0, bits 20–16, destination (write) sw $t0, 0($s0) → rt = $t0, bits 20–16, source (read)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7BEDF60-3A00-2D37-A70C-3B8A711527F0}"/>
              </a:ext>
            </a:extLst>
          </p:cNvPr>
          <p:cNvCxnSpPr>
            <a:endCxn id="21" idx="0"/>
          </p:cNvCxnSpPr>
          <p:nvPr/>
        </p:nvCxnSpPr>
        <p:spPr>
          <a:xfrm flipH="1">
            <a:off x="1574417" y="1945289"/>
            <a:ext cx="553637" cy="825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93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AB401E3-5B61-DD9B-2AE5-6EC52FD3DACC}"/>
              </a:ext>
            </a:extLst>
          </p:cNvPr>
          <p:cNvSpPr/>
          <p:nvPr/>
        </p:nvSpPr>
        <p:spPr>
          <a:xfrm>
            <a:off x="102075" y="64852"/>
            <a:ext cx="3987325" cy="356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Teaching Tools</a:t>
            </a:r>
            <a:endParaRPr lang="en-US" sz="3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2B97655-4089-350C-5E4D-9F36B03B01EF}"/>
              </a:ext>
            </a:extLst>
          </p:cNvPr>
          <p:cNvSpPr/>
          <p:nvPr/>
        </p:nvSpPr>
        <p:spPr>
          <a:xfrm>
            <a:off x="140175" y="616263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Two open-source simulators for learning and researching the RISC-V architecture — from classroom to lab.</a:t>
            </a:r>
            <a:endParaRPr lang="en-US" sz="12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5CBC0D1-8403-816B-60C4-6CEE4A37AE7A}"/>
              </a:ext>
            </a:extLst>
          </p:cNvPr>
          <p:cNvSpPr/>
          <p:nvPr/>
        </p:nvSpPr>
        <p:spPr>
          <a:xfrm>
            <a:off x="420511" y="1206292"/>
            <a:ext cx="6397703" cy="2950818"/>
          </a:xfrm>
          <a:prstGeom prst="roundRect">
            <a:avLst>
              <a:gd name="adj" fmla="val 3636"/>
            </a:avLst>
          </a:prstGeom>
          <a:solidFill>
            <a:srgbClr val="373B48">
              <a:alpha val="95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25365E0-447E-9CFE-46D0-59669BF7022E}"/>
              </a:ext>
            </a:extLst>
          </p:cNvPr>
          <p:cNvSpPr/>
          <p:nvPr/>
        </p:nvSpPr>
        <p:spPr>
          <a:xfrm>
            <a:off x="579221" y="1138399"/>
            <a:ext cx="1406842" cy="268010"/>
          </a:xfrm>
          <a:prstGeom prst="roundRect">
            <a:avLst>
              <a:gd name="adj" fmla="val 19906"/>
            </a:avLst>
          </a:prstGeom>
          <a:solidFill>
            <a:srgbClr val="21242B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25C38F4-2A35-5B63-24A8-5A69EE5FB797}"/>
              </a:ext>
            </a:extLst>
          </p:cNvPr>
          <p:cNvSpPr/>
          <p:nvPr/>
        </p:nvSpPr>
        <p:spPr>
          <a:xfrm>
            <a:off x="674471" y="1186024"/>
            <a:ext cx="1216343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BEGINNER FRIENDLY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B82BF0D-C386-D725-FC24-4AA065C868FA}"/>
              </a:ext>
            </a:extLst>
          </p:cNvPr>
          <p:cNvSpPr/>
          <p:nvPr/>
        </p:nvSpPr>
        <p:spPr>
          <a:xfrm>
            <a:off x="579221" y="1450819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RARS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AC04A13-06CB-D17B-F71A-F16CE6BC2301}"/>
              </a:ext>
            </a:extLst>
          </p:cNvPr>
          <p:cNvSpPr/>
          <p:nvPr/>
        </p:nvSpPr>
        <p:spPr>
          <a:xfrm>
            <a:off x="579221" y="1958740"/>
            <a:ext cx="623899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Assembler and Runtime Simulator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successor to the MIPS simulator MARS.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8D38030-50E8-B2AD-9BF1-2B280194B84A}"/>
              </a:ext>
            </a:extLst>
          </p:cNvPr>
          <p:cNvSpPr/>
          <p:nvPr/>
        </p:nvSpPr>
        <p:spPr>
          <a:xfrm>
            <a:off x="579221" y="2274732"/>
            <a:ext cx="6238994" cy="145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License: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MIT, free and open-source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Run: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50" dirty="0">
                <a:solidFill>
                  <a:srgbClr val="FFFFFF"/>
                </a:solidFill>
                <a:highlight>
                  <a:srgbClr val="444855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 -jar rars.jar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(JDK required)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ISA: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RV32I / RV64I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editing, assembly, single-step execution, register &amp; memory visualization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for: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beginners, classroom demonstrations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EBB378F-8029-CF29-C7B0-DC03A976E84B}"/>
              </a:ext>
            </a:extLst>
          </p:cNvPr>
          <p:cNvSpPr/>
          <p:nvPr/>
        </p:nvSpPr>
        <p:spPr>
          <a:xfrm>
            <a:off x="579221" y="3825878"/>
            <a:ext cx="623899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u="sng" dirty="0">
                <a:solidFill>
                  <a:srgbClr val="A8AD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github.com/TheThirdOne/rars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D44F9B5-D34D-36CA-955D-81563A6C45CD}"/>
              </a:ext>
            </a:extLst>
          </p:cNvPr>
          <p:cNvSpPr/>
          <p:nvPr/>
        </p:nvSpPr>
        <p:spPr>
          <a:xfrm>
            <a:off x="6913463" y="1138399"/>
            <a:ext cx="1668439" cy="327255"/>
          </a:xfrm>
          <a:prstGeom prst="roundRect">
            <a:avLst>
              <a:gd name="adj" fmla="val 18835"/>
            </a:avLst>
          </a:prstGeom>
          <a:noFill/>
          <a:ln w="7620">
            <a:solidFill>
              <a:srgbClr val="373B48"/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805AA21-7B19-E21C-52FF-86EF246B224E}"/>
              </a:ext>
            </a:extLst>
          </p:cNvPr>
          <p:cNvSpPr/>
          <p:nvPr/>
        </p:nvSpPr>
        <p:spPr>
          <a:xfrm>
            <a:off x="7016334" y="1252937"/>
            <a:ext cx="1125302" cy="157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/ RESEARCH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E7CEBB2-58C7-B26C-D3ED-9413145FB630}"/>
              </a:ext>
            </a:extLst>
          </p:cNvPr>
          <p:cNvSpPr/>
          <p:nvPr/>
        </p:nvSpPr>
        <p:spPr>
          <a:xfrm>
            <a:off x="6913464" y="1510064"/>
            <a:ext cx="283400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Spike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605267A-F910-33C7-49C8-78AD47B555E5}"/>
              </a:ext>
            </a:extLst>
          </p:cNvPr>
          <p:cNvSpPr/>
          <p:nvPr/>
        </p:nvSpPr>
        <p:spPr>
          <a:xfrm>
            <a:off x="6913465" y="2017985"/>
            <a:ext cx="47683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ISA Simulator</a:t>
            </a:r>
            <a:r>
              <a:rPr lang="en-US" sz="120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official reference simulator by RISC-V International, the industry gold standard.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C17AF44-6E5E-08F1-6293-20683090980F}"/>
              </a:ext>
            </a:extLst>
          </p:cNvPr>
          <p:cNvSpPr/>
          <p:nvPr/>
        </p:nvSpPr>
        <p:spPr>
          <a:xfrm>
            <a:off x="6913464" y="2549956"/>
            <a:ext cx="5647297" cy="123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License: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BSD, free and open-source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Platform: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Linux / macOS, paired with RISC-V GNU Toolchain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ISA: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RV32/64 IMAFDC and all major extensions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Features: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ISA verification, GDB debugging, low-level behavior simulation</a:t>
            </a:r>
            <a:endParaRPr lang="en-US" sz="120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Ideal for: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advanced learners, academic research</a:t>
            </a:r>
            <a:endParaRPr lang="en-US" sz="12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44ACED6-BDBB-6FE9-BA14-CBCC3F79E800}"/>
              </a:ext>
            </a:extLst>
          </p:cNvPr>
          <p:cNvSpPr/>
          <p:nvPr/>
        </p:nvSpPr>
        <p:spPr>
          <a:xfrm>
            <a:off x="6913463" y="3852422"/>
            <a:ext cx="564729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u="sng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github.com/riscv-software-src/riscv-isa-sim</a:t>
            </a:r>
            <a:endParaRPr lang="en-US" sz="12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BEF4F7B-2CAD-91F0-8835-E8C080C12DDF}"/>
              </a:ext>
            </a:extLst>
          </p:cNvPr>
          <p:cNvSpPr/>
          <p:nvPr/>
        </p:nvSpPr>
        <p:spPr>
          <a:xfrm>
            <a:off x="724375" y="4488770"/>
            <a:ext cx="11052759" cy="1838087"/>
          </a:xfrm>
          <a:prstGeom prst="roundRect">
            <a:avLst>
              <a:gd name="adj" fmla="val 36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4E73552C-8570-CFD4-9CFB-189BF05FF5FE}"/>
              </a:ext>
            </a:extLst>
          </p:cNvPr>
          <p:cNvSpPr/>
          <p:nvPr/>
        </p:nvSpPr>
        <p:spPr>
          <a:xfrm>
            <a:off x="731995" y="4496390"/>
            <a:ext cx="11045139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BB5A9D9-3822-5BC4-AAF2-00A6A5C4C8B7}"/>
              </a:ext>
            </a:extLst>
          </p:cNvPr>
          <p:cNvSpPr/>
          <p:nvPr/>
        </p:nvSpPr>
        <p:spPr>
          <a:xfrm>
            <a:off x="890943" y="4570685"/>
            <a:ext cx="293560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C326271-FE53-2B49-6755-388AA7338A63}"/>
              </a:ext>
            </a:extLst>
          </p:cNvPr>
          <p:cNvSpPr/>
          <p:nvPr/>
        </p:nvSpPr>
        <p:spPr>
          <a:xfrm>
            <a:off x="4151589" y="4570685"/>
            <a:ext cx="449508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FEEA78D-0DF9-0FA7-7E2B-86E2DBE5DC59}"/>
              </a:ext>
            </a:extLst>
          </p:cNvPr>
          <p:cNvSpPr/>
          <p:nvPr/>
        </p:nvSpPr>
        <p:spPr>
          <a:xfrm>
            <a:off x="8971715" y="4570685"/>
            <a:ext cx="46291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Spike</a:t>
            </a:r>
            <a:endParaRPr lang="en-US" sz="125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8CB02F0-7EC1-0375-14F5-C79D84737C62}"/>
              </a:ext>
            </a:extLst>
          </p:cNvPr>
          <p:cNvSpPr/>
          <p:nvPr/>
        </p:nvSpPr>
        <p:spPr>
          <a:xfrm>
            <a:off x="731996" y="4886248"/>
            <a:ext cx="11045138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72888AC-27CE-6E92-7952-D42F434AE03B}"/>
              </a:ext>
            </a:extLst>
          </p:cNvPr>
          <p:cNvSpPr/>
          <p:nvPr/>
        </p:nvSpPr>
        <p:spPr>
          <a:xfrm>
            <a:off x="890943" y="4935254"/>
            <a:ext cx="293560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3454336-717F-0B62-C4A7-29A86D9E0DBE}"/>
              </a:ext>
            </a:extLst>
          </p:cNvPr>
          <p:cNvSpPr/>
          <p:nvPr/>
        </p:nvSpPr>
        <p:spPr>
          <a:xfrm>
            <a:off x="4151589" y="4935254"/>
            <a:ext cx="449508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 GUI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56891945-3057-D5FE-831D-463AA26239D7}"/>
              </a:ext>
            </a:extLst>
          </p:cNvPr>
          <p:cNvSpPr/>
          <p:nvPr/>
        </p:nvSpPr>
        <p:spPr>
          <a:xfrm>
            <a:off x="8971715" y="4935254"/>
            <a:ext cx="46291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Command-line</a:t>
            </a:r>
            <a:endParaRPr lang="en-US" sz="125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2A0E29C-EBC6-2ECF-30EE-D094DC3A4E1E}"/>
              </a:ext>
            </a:extLst>
          </p:cNvPr>
          <p:cNvSpPr/>
          <p:nvPr/>
        </p:nvSpPr>
        <p:spPr>
          <a:xfrm>
            <a:off x="731996" y="5225528"/>
            <a:ext cx="11045138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1521644C-7FC6-EE40-1DD7-A658EF6A41D6}"/>
              </a:ext>
            </a:extLst>
          </p:cNvPr>
          <p:cNvSpPr/>
          <p:nvPr/>
        </p:nvSpPr>
        <p:spPr>
          <a:xfrm>
            <a:off x="890943" y="5299823"/>
            <a:ext cx="293560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Installation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57CFC46-78FF-9AA4-9718-94EEFEAFE8E0}"/>
              </a:ext>
            </a:extLst>
          </p:cNvPr>
          <p:cNvSpPr/>
          <p:nvPr/>
        </p:nvSpPr>
        <p:spPr>
          <a:xfrm>
            <a:off x="4151589" y="5299823"/>
            <a:ext cx="449508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— JDK only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C115BDC-8A20-1C8B-B8E8-977ACFB72A9B}"/>
              </a:ext>
            </a:extLst>
          </p:cNvPr>
          <p:cNvSpPr/>
          <p:nvPr/>
        </p:nvSpPr>
        <p:spPr>
          <a:xfrm>
            <a:off x="8971715" y="5299823"/>
            <a:ext cx="46291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Moderate — build from source</a:t>
            </a:r>
            <a:endParaRPr lang="en-US" sz="125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F956695F-C8CB-BAAC-E844-486EC02368DF}"/>
              </a:ext>
            </a:extLst>
          </p:cNvPr>
          <p:cNvSpPr/>
          <p:nvPr/>
        </p:nvSpPr>
        <p:spPr>
          <a:xfrm>
            <a:off x="731995" y="5590098"/>
            <a:ext cx="11045139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6DA26DA-AB1F-09A6-008E-58ECD1204F55}"/>
              </a:ext>
            </a:extLst>
          </p:cNvPr>
          <p:cNvSpPr/>
          <p:nvPr/>
        </p:nvSpPr>
        <p:spPr>
          <a:xfrm>
            <a:off x="890943" y="5664393"/>
            <a:ext cx="293560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Audience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FCF44E5-82C6-2D8A-C628-D66591F3A0AD}"/>
              </a:ext>
            </a:extLst>
          </p:cNvPr>
          <p:cNvSpPr/>
          <p:nvPr/>
        </p:nvSpPr>
        <p:spPr>
          <a:xfrm>
            <a:off x="4151589" y="5664393"/>
            <a:ext cx="449508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Beginners, students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1D4E06B-11B8-A921-040D-25AECE182B7A}"/>
              </a:ext>
            </a:extLst>
          </p:cNvPr>
          <p:cNvSpPr/>
          <p:nvPr/>
        </p:nvSpPr>
        <p:spPr>
          <a:xfrm>
            <a:off x="8971715" y="5664393"/>
            <a:ext cx="46291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Advanced learners, researchers</a:t>
            </a:r>
            <a:endParaRPr lang="en-US" sz="125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A55812D8-138F-EDF6-E437-7F81A976C0F2}"/>
              </a:ext>
            </a:extLst>
          </p:cNvPr>
          <p:cNvSpPr/>
          <p:nvPr/>
        </p:nvSpPr>
        <p:spPr>
          <a:xfrm>
            <a:off x="731995" y="5954667"/>
            <a:ext cx="11045139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98ABAEDD-0BB0-6E6D-6A7A-B195909EC980}"/>
              </a:ext>
            </a:extLst>
          </p:cNvPr>
          <p:cNvSpPr/>
          <p:nvPr/>
        </p:nvSpPr>
        <p:spPr>
          <a:xfrm>
            <a:off x="890943" y="6028962"/>
            <a:ext cx="293560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Use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27B40E76-579B-1D26-8275-4251B9221759}"/>
              </a:ext>
            </a:extLst>
          </p:cNvPr>
          <p:cNvSpPr/>
          <p:nvPr/>
        </p:nvSpPr>
        <p:spPr>
          <a:xfrm>
            <a:off x="4151589" y="6028962"/>
            <a:ext cx="449508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Classroom demos, labs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78DD0AD4-1C90-ECD4-B79F-2AD02E8EA897}"/>
              </a:ext>
            </a:extLst>
          </p:cNvPr>
          <p:cNvSpPr/>
          <p:nvPr/>
        </p:nvSpPr>
        <p:spPr>
          <a:xfrm>
            <a:off x="8971715" y="6028962"/>
            <a:ext cx="46291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ISA verification, research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292992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1B2F6-561D-0C0D-6119-1A77BBFB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list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6C29CC-77E1-E508-937E-A49D5FD29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SHD Group (2024) </a:t>
            </a:r>
            <a:r>
              <a:rPr lang="en-US" altLang="zh-C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Market Report: Application Forecasts in a Heterogeneous World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(Abridged version). SHD101A.b-24. The SHD Group.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International. (2021). </a:t>
            </a:r>
            <a:r>
              <a:rPr lang="en-US" altLang="zh-C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RISC-V Unprivileged Specification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https://en.wikipedia.org/wiki/RISC-V#ISA_base_and_extensions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https://www.researchgate.net/figure/Three-different-32-bit-instruction-formats-of-MIPS-architecture-37-Rs-Source_fig2_359971270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u="sng" dirty="0">
                <a:solidFill>
                  <a:srgbClr val="A8AD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altLang="zh-CN" sz="1600" u="sng" dirty="0" err="1">
                <a:solidFill>
                  <a:srgbClr val="A8AD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TheThirdOne</a:t>
            </a:r>
            <a:r>
              <a:rPr lang="en-US" altLang="zh-CN" sz="1600" u="sng" dirty="0">
                <a:solidFill>
                  <a:srgbClr val="A8AD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solidFill>
                  <a:srgbClr val="A8AD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rars</a:t>
            </a:r>
            <a:endParaRPr lang="en-US" altLang="zh-CN" sz="1600" u="sng" dirty="0">
              <a:solidFill>
                <a:srgbClr val="A8ADB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u="sng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altLang="zh-CN" sz="1600" u="sng" dirty="0" err="1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riscv</a:t>
            </a:r>
            <a:r>
              <a:rPr lang="en-US" altLang="zh-CN" sz="1600" u="sng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-software-</a:t>
            </a:r>
            <a:r>
              <a:rPr lang="en-US" altLang="zh-CN" sz="1600" u="sng" dirty="0" err="1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</a:t>
            </a:r>
            <a:r>
              <a:rPr lang="en-US" altLang="zh-CN" sz="1600" u="sng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riscv</a:t>
            </a:r>
            <a:r>
              <a:rPr lang="en-US" altLang="zh-CN" sz="1600" u="sng" dirty="0">
                <a:solidFill>
                  <a:srgbClr val="373B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-isa-sim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76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3471</TotalTime>
  <Words>2100</Words>
  <Application>Microsoft Office PowerPoint</Application>
  <PresentationFormat>宽屏</PresentationFormat>
  <Paragraphs>237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Funnel Sans</vt:lpstr>
      <vt:lpstr>Mona Sans Semi Bold</vt:lpstr>
      <vt:lpstr>等线</vt:lpstr>
      <vt:lpstr>等线 Light</vt:lpstr>
      <vt:lpstr>Arial</vt:lpstr>
      <vt:lpstr>Calibri</vt:lpstr>
      <vt:lpstr>Consolas</vt:lpstr>
      <vt:lpstr>Office 主题​​</vt:lpstr>
      <vt:lpstr>RISC-V: From MIPS to a Modern Open ISA </vt:lpstr>
      <vt:lpstr>What is RISC-V</vt:lpstr>
      <vt:lpstr>Data Evidence of RISC-V's Rising Popularity</vt:lpstr>
      <vt:lpstr>Reasons Behind the Popularity of RISC-V (Industry)</vt:lpstr>
      <vt:lpstr>Reasons Behind the Popularity of RISC-V (Industry)</vt:lpstr>
      <vt:lpstr>Reasons Behind the Popularity of RISC-V (Industry)</vt:lpstr>
      <vt:lpstr>Reasons Behind the Popularity of RISC-V (academia)</vt:lpstr>
      <vt:lpstr>PowerPoint 演示文稿</vt:lpstr>
      <vt:lpstr>PowerPoint 演示文稿</vt:lpstr>
      <vt:lpstr>Week 2 Different Operands</vt:lpstr>
      <vt:lpstr>Week 2 Different Operations</vt:lpstr>
      <vt:lpstr>PowerPoint 演示文稿</vt:lpstr>
      <vt:lpstr>PowerPoint 演示文稿</vt:lpstr>
      <vt:lpstr>PowerPoint 演示文稿</vt:lpstr>
      <vt:lpstr>PowerPoint 演示文稿</vt:lpstr>
      <vt:lpstr>Reference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Tianbo YANG (20721163)</dc:creator>
  <cp:lastModifiedBy>Tianbo YANG (20721163)</cp:lastModifiedBy>
  <cp:revision>20</cp:revision>
  <dcterms:created xsi:type="dcterms:W3CDTF">2026-03-29T11:21:48Z</dcterms:created>
  <dcterms:modified xsi:type="dcterms:W3CDTF">2026-04-03T07:10:14Z</dcterms:modified>
</cp:coreProperties>
</file>